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4" r:id="rId1"/>
  </p:sldMasterIdLst>
  <p:notesMasterIdLst>
    <p:notesMasterId r:id="rId26"/>
  </p:notesMasterIdLst>
  <p:sldIdLst>
    <p:sldId id="268" r:id="rId2"/>
    <p:sldId id="269" r:id="rId3"/>
    <p:sldId id="282" r:id="rId4"/>
    <p:sldId id="293" r:id="rId5"/>
    <p:sldId id="294" r:id="rId6"/>
    <p:sldId id="336" r:id="rId7"/>
    <p:sldId id="1042" r:id="rId8"/>
    <p:sldId id="338" r:id="rId9"/>
    <p:sldId id="343" r:id="rId10"/>
    <p:sldId id="344" r:id="rId11"/>
    <p:sldId id="1043" r:id="rId12"/>
    <p:sldId id="333" r:id="rId13"/>
    <p:sldId id="1019" r:id="rId14"/>
    <p:sldId id="1038" r:id="rId15"/>
    <p:sldId id="1039" r:id="rId16"/>
    <p:sldId id="1032" r:id="rId17"/>
    <p:sldId id="1040" r:id="rId18"/>
    <p:sldId id="1041" r:id="rId19"/>
    <p:sldId id="1013" r:id="rId20"/>
    <p:sldId id="1034" r:id="rId21"/>
    <p:sldId id="1036" r:id="rId22"/>
    <p:sldId id="1037" r:id="rId23"/>
    <p:sldId id="1022" r:id="rId24"/>
    <p:sldId id="103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1016"/>
    <a:srgbClr val="B40225"/>
    <a:srgbClr val="314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62"/>
    <p:restoredTop sz="94659"/>
  </p:normalViewPr>
  <p:slideViewPr>
    <p:cSldViewPr>
      <p:cViewPr varScale="1">
        <p:scale>
          <a:sx n="146" d="100"/>
          <a:sy n="146" d="100"/>
        </p:scale>
        <p:origin x="155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7" d="100"/>
        <a:sy n="147" d="100"/>
      </p:scale>
      <p:origin x="0" y="0"/>
    </p:cViewPr>
  </p:sorterViewPr>
  <p:notesViewPr>
    <p:cSldViewPr>
      <p:cViewPr varScale="1">
        <p:scale>
          <a:sx n="120" d="100"/>
          <a:sy n="120" d="100"/>
        </p:scale>
        <p:origin x="3056" y="192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4FB8A-C686-704C-B897-366C5BAA116D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6991D-3C2C-3848-84C0-34B75B21B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C5649-11CF-8B49-FE25-86F85A5CA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440" y="555170"/>
            <a:ext cx="10081120" cy="2880320"/>
          </a:xfrm>
          <a:prstGeom prst="rect">
            <a:avLst/>
          </a:prstGeom>
        </p:spPr>
        <p:txBody>
          <a:bodyPr anchor="ctr"/>
          <a:lstStyle>
            <a:lvl1pPr algn="ctr">
              <a:defRPr b="1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1EDBB-FB71-D6F0-DEE9-936E256EB1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440" y="3439953"/>
            <a:ext cx="10081120" cy="709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4B1B5B4-69E4-1E70-406D-2130566AF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5440" y="5408002"/>
            <a:ext cx="2880320" cy="894828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E61F217-3157-16C4-B247-6A403E438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8525" y="4159161"/>
            <a:ext cx="10081120" cy="709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Affiliations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59D5874-D575-9B02-C1FD-02B32FD708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6080" y="5406259"/>
            <a:ext cx="4320172" cy="894827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2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Date/Venue</a:t>
            </a:r>
          </a:p>
        </p:txBody>
      </p:sp>
    </p:spTree>
    <p:extLst>
      <p:ext uri="{BB962C8B-B14F-4D97-AF65-F5344CB8AC3E}">
        <p14:creationId xmlns:p14="http://schemas.microsoft.com/office/powerpoint/2010/main" val="35057258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593D-BB23-6E56-828B-19B10A975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40" y="368663"/>
            <a:ext cx="10081120" cy="900097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40E180-C281-E7A1-EE1F-A2E0AD30D8B1}"/>
              </a:ext>
            </a:extLst>
          </p:cNvPr>
          <p:cNvCxnSpPr>
            <a:cxnSpLocks/>
          </p:cNvCxnSpPr>
          <p:nvPr userDrawn="1"/>
        </p:nvCxnSpPr>
        <p:spPr>
          <a:xfrm>
            <a:off x="1055440" y="1268760"/>
            <a:ext cx="1008112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81D6EA-99DD-6F5E-F982-E8C51F9EF9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55440" y="1628803"/>
            <a:ext cx="10081120" cy="4320475"/>
          </a:xfrm>
          <a:prstGeom prst="rect">
            <a:avLst/>
          </a:prstGeom>
        </p:spPr>
        <p:txBody>
          <a:bodyPr lIns="0" tIns="0" rIns="0" bIns="0"/>
          <a:lstStyle>
            <a:lvl1pPr marL="457200" indent="-457200" algn="l">
              <a:buFont typeface="Wingdings" pitchFamily="2" charset="2"/>
              <a:buChar char="q"/>
              <a:defRPr/>
            </a:lvl1pPr>
            <a:lvl2pPr marL="685800" indent="-228600">
              <a:buFont typeface="Wingdings" pitchFamily="2" charset="2"/>
              <a:buChar char="q"/>
              <a:defRPr/>
            </a:lvl2pPr>
            <a:lvl3pPr marL="1143000" indent="-228600">
              <a:buFont typeface="Wingdings" pitchFamily="2" charset="2"/>
              <a:buChar char="q"/>
              <a:defRPr/>
            </a:lvl3pPr>
            <a:lvl4pPr marL="1600200" indent="-228600">
              <a:buFont typeface="Wingdings" pitchFamily="2" charset="2"/>
              <a:buChar char="q"/>
              <a:defRPr/>
            </a:lvl4pPr>
            <a:lvl5pPr marL="2057400" indent="-228600">
              <a:buFont typeface="Wingdings" pitchFamily="2" charset="2"/>
              <a:buChar char="q"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4748810-8D1C-98F4-C93C-F6151A6AD3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 lIns="0" tIns="0" rIns="0" bIns="0"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C7E73A3-7DB2-5BE9-8E56-8EDD84109C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81400" y="6309328"/>
            <a:ext cx="5029200" cy="180009"/>
          </a:xfrm>
        </p:spPr>
        <p:txBody>
          <a:bodyPr lIns="0" tIns="0" rIns="0" bIns="0"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AA740D-EEA3-1E86-A44E-098E985458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09328"/>
            <a:ext cx="2525960" cy="180009"/>
          </a:xfrm>
        </p:spPr>
        <p:txBody>
          <a:bodyPr lIns="0" tIns="0" rIns="0" bIns="0"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fld id="{BAA55473-3431-D347-B684-4E3BA0EBF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40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9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9F736C6-4B7D-4F9A-A2B8-8B18D07CD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012AAAA-908E-1798-9C32-2329EBFC1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916064A2-0AD6-4A4B-A4FC-E061C62389D5}" type="datetime1">
              <a:rPr lang="en-US" smtClean="0"/>
              <a:pPr/>
              <a:t>6/1/26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9707C1D-8822-AD25-498B-EC5958D2F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BAA55473-3431-D347-B684-4E3BA0EBF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CBA067F6-641A-56A7-9F96-5237D4D3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D7B66DD-6683-330D-8F3C-73155A03C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567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Noto Sans KR" panose="020B0200000000000000" pitchFamily="34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Noto Sans KR" panose="020B0200000000000000" pitchFamily="34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Noto Sans KR" panose="020B0200000000000000" pitchFamily="34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Noto Sans KR" panose="020B0200000000000000" pitchFamily="34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Noto Sans KR" panose="020B0200000000000000" pitchFamily="34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Noto Sans KR" panose="020B0200000000000000" pitchFamily="34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Noto Sans KR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Noto Sans KR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Noto Sans KR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Noto Sans KR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Noto Sans KR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Noto Sans KR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Noto Sans KR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Noto Sans KR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Noto Sans KR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Noto Sans KR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Noto Sans KR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Noto Sans KR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Noto Sans K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thropic.com/research/building-effective-agent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codex" TargetMode="External"/><Relationship Id="rId2" Type="http://schemas.openxmlformats.org/officeDocument/2006/relationships/hyperlink" Target="https://claude.com/product/claude-cod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w-choi.github.io/PHY1001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nthropic.com/research/vibe-physics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com/blog" TargetMode="External"/><Relationship Id="rId7" Type="http://schemas.openxmlformats.org/officeDocument/2006/relationships/hyperlink" Target="https://www.youtube.com/c/DwarkeshPatel" TargetMode="External"/><Relationship Id="rId2" Type="http://schemas.openxmlformats.org/officeDocument/2006/relationships/hyperlink" Target="https://www.anthropic.com/engineer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chester_roh" TargetMode="External"/><Relationship Id="rId5" Type="http://schemas.openxmlformats.org/officeDocument/2006/relationships/hyperlink" Target="https://news.hada.io/" TargetMode="External"/><Relationship Id="rId4" Type="http://schemas.openxmlformats.org/officeDocument/2006/relationships/hyperlink" Target="https://openai.com/news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7E2A-E0AC-30C7-3028-542B51AE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34" charset="-128"/>
                <a:ea typeface="Noto Sans KR" panose="020B0200000000000000" pitchFamily="34" charset="-128"/>
              </a:rPr>
              <a:t>AI Agent</a:t>
            </a:r>
            <a:r>
              <a:rPr lang="ko-KR" altLang="en-US" dirty="0">
                <a:latin typeface="Noto Sans KR" panose="020B0200000000000000" pitchFamily="34" charset="-128"/>
                <a:ea typeface="Noto Sans KR" panose="020B0200000000000000" pitchFamily="34" charset="-128"/>
              </a:rPr>
              <a:t> 활용 사례 소개</a:t>
            </a:r>
            <a:endParaRPr lang="en-US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F0450-DBF2-DDD0-76B9-4D199AB645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최영우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52C2F-6158-11D5-1FFF-3563E05051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물리학과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EBA72A-564D-821C-A694-9B6F73F3D2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2026/06/01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431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141A-A837-D2B1-0BBB-1E3529BA1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8190F-A2F7-F4DF-1DF6-801E173D1A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 dirty="0" err="1"/>
              <a:t>에이전트</a:t>
            </a:r>
            <a:r>
              <a:rPr lang="en-US" dirty="0"/>
              <a:t> </a:t>
            </a:r>
            <a:r>
              <a:rPr lang="en-US" dirty="0" err="1"/>
              <a:t>개념</a:t>
            </a:r>
            <a:r>
              <a:rPr lang="en-US" dirty="0"/>
              <a:t> </a:t>
            </a:r>
            <a:r>
              <a:rPr lang="en-US" dirty="0" err="1"/>
              <a:t>소개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강의</a:t>
            </a:r>
            <a:r>
              <a:rPr lang="en-US" altLang="ko-KR" dirty="0"/>
              <a:t>/</a:t>
            </a:r>
            <a:r>
              <a:rPr lang="ko-KR" altLang="en-US" dirty="0"/>
              <a:t>행정</a:t>
            </a:r>
            <a:r>
              <a:rPr lang="en-US" altLang="ko-KR" dirty="0"/>
              <a:t>/</a:t>
            </a:r>
            <a:r>
              <a:rPr lang="ko-KR" altLang="en-US" dirty="0"/>
              <a:t>연구 활용 사례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최근동향 및 참고자료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2C3C3-E28E-C1E7-0778-AD10AEDEF19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3A77B-1889-78A0-634F-EC8F628FC6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C5BB5-8463-C657-EA35-37A721FD93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1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ght Arrow 17">
            <a:extLst>
              <a:ext uri="{FF2B5EF4-FFF2-40B4-BE49-F238E27FC236}">
                <a16:creationId xmlns:a16="http://schemas.microsoft.com/office/drawing/2014/main" id="{39B028FD-204D-E246-93F6-F57CCB89EC23}"/>
              </a:ext>
            </a:extLst>
          </p:cNvPr>
          <p:cNvSpPr/>
          <p:nvPr/>
        </p:nvSpPr>
        <p:spPr>
          <a:xfrm>
            <a:off x="9670035" y="2218688"/>
            <a:ext cx="482600" cy="279400"/>
          </a:xfrm>
          <a:prstGeom prst="rightArrow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D64E67A4-838B-6C40-AB1F-30757499EDB7}"/>
              </a:ext>
            </a:extLst>
          </p:cNvPr>
          <p:cNvSpPr/>
          <p:nvPr/>
        </p:nvSpPr>
        <p:spPr>
          <a:xfrm>
            <a:off x="7701535" y="2218688"/>
            <a:ext cx="482600" cy="279400"/>
          </a:xfrm>
          <a:prstGeom prst="rightArrow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143D1DB-3749-D44F-BF22-FF1AC4390E20}"/>
              </a:ext>
            </a:extLst>
          </p:cNvPr>
          <p:cNvSpPr/>
          <p:nvPr/>
        </p:nvSpPr>
        <p:spPr>
          <a:xfrm>
            <a:off x="10228835" y="1786888"/>
            <a:ext cx="1333500" cy="1143000"/>
          </a:xfrm>
          <a:prstGeom prst="roundRect">
            <a:avLst/>
          </a:prstGeom>
          <a:solidFill>
            <a:srgbClr val="E8F4F1"/>
          </a:solidFill>
          <a:ln w="12700" cap="flat" cmpd="sng" algn="ctr">
            <a:solidFill>
              <a:srgbClr val="10A3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10537D5-65D8-BD42-B97E-CDD462996E46}"/>
              </a:ext>
            </a:extLst>
          </p:cNvPr>
          <p:cNvSpPr/>
          <p:nvPr/>
        </p:nvSpPr>
        <p:spPr>
          <a:xfrm>
            <a:off x="8260335" y="1786888"/>
            <a:ext cx="1333500" cy="1143000"/>
          </a:xfrm>
          <a:prstGeom prst="roundRect">
            <a:avLst/>
          </a:prstGeom>
          <a:solidFill>
            <a:srgbClr val="10A37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5B41859-E57B-8145-B910-95547F352A47}"/>
              </a:ext>
            </a:extLst>
          </p:cNvPr>
          <p:cNvSpPr/>
          <p:nvPr/>
        </p:nvSpPr>
        <p:spPr>
          <a:xfrm>
            <a:off x="6037835" y="1786888"/>
            <a:ext cx="1587500" cy="1143000"/>
          </a:xfrm>
          <a:prstGeom prst="roundRect">
            <a:avLst/>
          </a:prstGeom>
          <a:solidFill>
            <a:srgbClr val="E8F4F1"/>
          </a:solidFill>
          <a:ln w="12700" cap="flat" cmpd="sng" algn="ctr">
            <a:solidFill>
              <a:srgbClr val="10A3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006003-78FB-F645-8114-2489235F72D9}"/>
              </a:ext>
            </a:extLst>
          </p:cNvPr>
          <p:cNvSpPr/>
          <p:nvPr/>
        </p:nvSpPr>
        <p:spPr>
          <a:xfrm>
            <a:off x="5740400" y="1778000"/>
            <a:ext cx="25400" cy="3810000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AC1BB6-2656-5BB6-D129-E2978AC1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</a:t>
            </a:r>
            <a:endParaRPr lang="en-KR" dirty="0"/>
          </a:p>
        </p:txBody>
      </p:sp>
      <p:pic>
        <p:nvPicPr>
          <p:cNvPr id="7" name="Content Placeholder 6" descr="ChatGPT - Interface Redesign by Justin Lin on Dribbble">
            <a:extLst>
              <a:ext uri="{FF2B5EF4-FFF2-40B4-BE49-F238E27FC236}">
                <a16:creationId xmlns:a16="http://schemas.microsoft.com/office/drawing/2014/main" id="{778AAF41-121D-C61C-7DEB-93D2F0F5DEF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085448" y="1778000"/>
            <a:ext cx="4318000" cy="25273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D9980-D1F6-755C-789C-885E3C9FDFE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96288" y="6309327"/>
            <a:ext cx="2513588" cy="1800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ACD7C-8E60-D741-EDA7-592A2E609C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324BD-C3F2-DD17-6369-27A3B8ED2B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AA8059-A0E7-8E08-75F7-FD5580900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469" y="4629271"/>
            <a:ext cx="685800" cy="685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37C105-89FB-2997-ED18-09B2C416DF03}"/>
              </a:ext>
            </a:extLst>
          </p:cNvPr>
          <p:cNvSpPr txBox="1"/>
          <p:nvPr/>
        </p:nvSpPr>
        <p:spPr>
          <a:xfrm>
            <a:off x="1358900" y="4629271"/>
            <a:ext cx="4445000" cy="355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700" b="1" dirty="0">
                <a:solidFill>
                  <a:srgbClr val="000000"/>
                </a:solidFill>
                <a:latin typeface="Noto Sans KR"/>
                <a:ea typeface="Noto Sans KR"/>
              </a:rPr>
              <a:t>ChatGPT (GPT-3.5, OpenAI)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4D004F-755C-6350-685B-9474E8A2A79C}"/>
              </a:ext>
            </a:extLst>
          </p:cNvPr>
          <p:cNvSpPr txBox="1"/>
          <p:nvPr/>
        </p:nvSpPr>
        <p:spPr>
          <a:xfrm>
            <a:off x="2429482" y="4906099"/>
            <a:ext cx="230383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700" b="1" dirty="0">
                <a:solidFill>
                  <a:srgbClr val="10A37F"/>
                </a:solidFill>
                <a:latin typeface="Noto Sans KR"/>
                <a:ea typeface="Noto Sans KR"/>
              </a:rPr>
              <a:t>2022/11/30 Release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6C4E74-B410-763B-01BA-56E17E6497E9}"/>
              </a:ext>
            </a:extLst>
          </p:cNvPr>
          <p:cNvSpPr txBox="1"/>
          <p:nvPr/>
        </p:nvSpPr>
        <p:spPr>
          <a:xfrm>
            <a:off x="8260335" y="1786888"/>
            <a:ext cx="1333500" cy="114300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Noto Sans KR"/>
                <a:ea typeface="Noto Sans KR"/>
              </a:rPr>
              <a:t>LLM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D44CE6-CD30-1A24-F0DE-704D9927620F}"/>
              </a:ext>
            </a:extLst>
          </p:cNvPr>
          <p:cNvSpPr txBox="1"/>
          <p:nvPr/>
        </p:nvSpPr>
        <p:spPr>
          <a:xfrm>
            <a:off x="10228835" y="1786888"/>
            <a:ext cx="1333500" cy="114300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1700" b="1" dirty="0">
                <a:solidFill>
                  <a:srgbClr val="000000"/>
                </a:solidFill>
                <a:latin typeface="Noto Sans KR"/>
                <a:ea typeface="Noto Sans KR"/>
              </a:rPr>
              <a:t>Output</a:t>
            </a:r>
          </a:p>
          <a:p>
            <a:pPr algn="ctr"/>
            <a:r>
              <a:rPr lang="en-US" sz="1300" dirty="0">
                <a:solidFill>
                  <a:srgbClr val="000000"/>
                </a:solidFill>
                <a:latin typeface="Noto Sans KR"/>
                <a:ea typeface="Noto Sans KR"/>
              </a:rPr>
              <a:t>tokens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54E36D-51EF-9CF2-425C-EAA201FEA3D0}"/>
              </a:ext>
            </a:extLst>
          </p:cNvPr>
          <p:cNvSpPr txBox="1"/>
          <p:nvPr/>
        </p:nvSpPr>
        <p:spPr>
          <a:xfrm>
            <a:off x="6001747" y="1786888"/>
            <a:ext cx="1587500" cy="114300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1700" b="1" dirty="0">
                <a:solidFill>
                  <a:srgbClr val="000000"/>
                </a:solidFill>
                <a:latin typeface="Noto Sans KR"/>
                <a:ea typeface="Noto Sans KR"/>
              </a:rPr>
              <a:t>Input</a:t>
            </a:r>
          </a:p>
          <a:p>
            <a:pPr algn="ctr"/>
            <a:r>
              <a:rPr lang="en-US" sz="1300" dirty="0">
                <a:solidFill>
                  <a:srgbClr val="000000"/>
                </a:solidFill>
                <a:latin typeface="Noto Sans KR"/>
                <a:ea typeface="Noto Sans KR"/>
              </a:rPr>
              <a:t>tokens (Context)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569448-D561-0EB6-B92E-2D839AABECC4}"/>
              </a:ext>
            </a:extLst>
          </p:cNvPr>
          <p:cNvSpPr txBox="1"/>
          <p:nvPr/>
        </p:nvSpPr>
        <p:spPr>
          <a:xfrm>
            <a:off x="6001748" y="3467595"/>
            <a:ext cx="55605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latin typeface="Noto Sans KR"/>
                <a:ea typeface="Noto Sans KR"/>
              </a:rPr>
              <a:t>LLM (large language model): </a:t>
            </a:r>
            <a:r>
              <a:rPr lang="en-US" sz="2000" dirty="0">
                <a:solidFill>
                  <a:srgbClr val="000000"/>
                </a:solidFill>
                <a:latin typeface="Noto Sans KR"/>
                <a:ea typeface="Noto Sans KR"/>
              </a:rPr>
              <a:t>대량의 텍스트로 학습한 거대 </a:t>
            </a:r>
            <a:r>
              <a:rPr lang="en-US" sz="2000" dirty="0" err="1">
                <a:solidFill>
                  <a:srgbClr val="000000"/>
                </a:solidFill>
                <a:latin typeface="Noto Sans KR"/>
                <a:ea typeface="Noto Sans KR"/>
              </a:rPr>
              <a:t>언어</a:t>
            </a:r>
            <a:r>
              <a:rPr lang="en-US" sz="200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Noto Sans KR"/>
                <a:ea typeface="Noto Sans KR"/>
              </a:rPr>
              <a:t>모델</a:t>
            </a:r>
            <a:endParaRPr lang="en-US" sz="2000" dirty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sz="2000" dirty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latin typeface="Noto Sans KR"/>
                <a:ea typeface="Noto Sans KR"/>
              </a:rPr>
              <a:t>Token: </a:t>
            </a:r>
            <a:r>
              <a:rPr lang="en-US" sz="2000" dirty="0">
                <a:solidFill>
                  <a:srgbClr val="000000"/>
                </a:solidFill>
                <a:latin typeface="Noto Sans KR"/>
                <a:ea typeface="Noto Sans KR"/>
              </a:rPr>
              <a:t>모델이 처리하는 텍스트의 </a:t>
            </a:r>
            <a:r>
              <a:rPr lang="en-US" sz="2000" dirty="0" err="1">
                <a:solidFill>
                  <a:srgbClr val="000000"/>
                </a:solidFill>
                <a:latin typeface="Noto Sans KR"/>
                <a:ea typeface="Noto Sans KR"/>
              </a:rPr>
              <a:t>최소</a:t>
            </a:r>
            <a:r>
              <a:rPr lang="en-US" sz="200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Noto Sans KR"/>
                <a:ea typeface="Noto Sans KR"/>
              </a:rPr>
              <a:t>단위</a:t>
            </a:r>
            <a:endParaRPr lang="en-US" sz="2000" dirty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sz="2000" dirty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latin typeface="Noto Sans KR"/>
                <a:ea typeface="Noto Sans KR"/>
              </a:rPr>
              <a:t>Context: </a:t>
            </a:r>
            <a:r>
              <a:rPr lang="en-US" sz="2000" dirty="0">
                <a:solidFill>
                  <a:srgbClr val="000000"/>
                </a:solidFill>
                <a:latin typeface="Noto Sans KR"/>
                <a:ea typeface="Noto Sans KR"/>
              </a:rPr>
              <a:t>모델이 한 번에 참고하는 입력 범위</a:t>
            </a:r>
          </a:p>
        </p:txBody>
      </p:sp>
    </p:spTree>
    <p:extLst>
      <p:ext uri="{BB962C8B-B14F-4D97-AF65-F5344CB8AC3E}">
        <p14:creationId xmlns:p14="http://schemas.microsoft.com/office/powerpoint/2010/main" val="4024275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9DE98-756D-5562-DA8A-8B538328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Augmented LLM</a:t>
            </a:r>
            <a:endParaRPr lang="en-K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2B55F-FD64-0493-86B0-24FBF59E21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ADC60-1FDF-AE2F-4BE8-2A807E6399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1B5CD-66D7-A169-FA6C-2684B0B684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C338B65-B676-FA45-F76E-380D7473F606}"/>
              </a:ext>
            </a:extLst>
          </p:cNvPr>
          <p:cNvGrpSpPr/>
          <p:nvPr/>
        </p:nvGrpSpPr>
        <p:grpSpPr>
          <a:xfrm>
            <a:off x="400567" y="1990088"/>
            <a:ext cx="6087320" cy="3640456"/>
            <a:chOff x="400567" y="1990088"/>
            <a:chExt cx="6477000" cy="3873500"/>
          </a:xfrm>
        </p:grpSpPr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5F55DCA2-7D08-3294-A524-B755F8EAA273}"/>
                </a:ext>
              </a:extLst>
            </p:cNvPr>
            <p:cNvSpPr/>
            <p:nvPr/>
          </p:nvSpPr>
          <p:spPr>
            <a:xfrm>
              <a:off x="4382017" y="2358388"/>
              <a:ext cx="482600" cy="279400"/>
            </a:xfrm>
            <a:prstGeom prst="rightArrow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1D7C1F8A-8BE5-DC30-CBA8-CB5182CC008A}"/>
                </a:ext>
              </a:extLst>
            </p:cNvPr>
            <p:cNvSpPr/>
            <p:nvPr/>
          </p:nvSpPr>
          <p:spPr>
            <a:xfrm>
              <a:off x="2413517" y="2358388"/>
              <a:ext cx="482600" cy="279400"/>
            </a:xfrm>
            <a:prstGeom prst="rightArrow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9D5F3A2-5E95-3328-9E15-5AD7CAEB5FA4}"/>
                </a:ext>
              </a:extLst>
            </p:cNvPr>
            <p:cNvSpPr/>
            <p:nvPr/>
          </p:nvSpPr>
          <p:spPr>
            <a:xfrm>
              <a:off x="4940817" y="1990088"/>
              <a:ext cx="1333500" cy="1016000"/>
            </a:xfrm>
            <a:prstGeom prst="roundRect">
              <a:avLst/>
            </a:prstGeom>
            <a:solidFill>
              <a:srgbClr val="E8F4F1"/>
            </a:solidFill>
            <a:ln w="12700" cap="flat" cmpd="sng" algn="ctr">
              <a:solidFill>
                <a:srgbClr val="10A37F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06B7C53-0C8A-6901-9D66-A733B2A5F781}"/>
                </a:ext>
              </a:extLst>
            </p:cNvPr>
            <p:cNvSpPr/>
            <p:nvPr/>
          </p:nvSpPr>
          <p:spPr>
            <a:xfrm>
              <a:off x="2972317" y="1990088"/>
              <a:ext cx="1333500" cy="1016000"/>
            </a:xfrm>
            <a:prstGeom prst="roundRect">
              <a:avLst/>
            </a:prstGeom>
            <a:solidFill>
              <a:srgbClr val="10A37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480DAFE-77A9-E88E-8D64-53A239CFE0D7}"/>
                </a:ext>
              </a:extLst>
            </p:cNvPr>
            <p:cNvSpPr/>
            <p:nvPr/>
          </p:nvSpPr>
          <p:spPr>
            <a:xfrm>
              <a:off x="1003817" y="1990088"/>
              <a:ext cx="1333500" cy="1016000"/>
            </a:xfrm>
            <a:prstGeom prst="roundRect">
              <a:avLst/>
            </a:prstGeom>
            <a:solidFill>
              <a:srgbClr val="E8F4F1"/>
            </a:solidFill>
            <a:ln w="12700" cap="flat" cmpd="sng" algn="ctr">
              <a:solidFill>
                <a:srgbClr val="10A37F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0C0BD1-BF46-7961-5777-BB379A484DD5}"/>
                </a:ext>
              </a:extLst>
            </p:cNvPr>
            <p:cNvSpPr txBox="1"/>
            <p:nvPr/>
          </p:nvSpPr>
          <p:spPr>
            <a:xfrm>
              <a:off x="1003817" y="1990088"/>
              <a:ext cx="1333500" cy="1016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1700" b="1" dirty="0">
                  <a:solidFill>
                    <a:srgbClr val="000000"/>
                  </a:solidFill>
                  <a:latin typeface="Noto Sans KR"/>
                  <a:ea typeface="Noto Sans KR"/>
                </a:rPr>
                <a:t>Input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EFAF1F-42E9-2C08-0DFD-F375E70F29E6}"/>
                </a:ext>
              </a:extLst>
            </p:cNvPr>
            <p:cNvSpPr txBox="1"/>
            <p:nvPr/>
          </p:nvSpPr>
          <p:spPr>
            <a:xfrm>
              <a:off x="2972317" y="1990088"/>
              <a:ext cx="1333500" cy="1016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Noto Sans KR"/>
                  <a:ea typeface="Noto Sans KR"/>
                </a:rPr>
                <a:t>LLM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8EA4736-728D-1538-7B78-912EA44FD725}"/>
                </a:ext>
              </a:extLst>
            </p:cNvPr>
            <p:cNvSpPr txBox="1"/>
            <p:nvPr/>
          </p:nvSpPr>
          <p:spPr>
            <a:xfrm>
              <a:off x="4940817" y="1990088"/>
              <a:ext cx="1333500" cy="1016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1700" b="1" dirty="0">
                  <a:solidFill>
                    <a:srgbClr val="000000"/>
                  </a:solidFill>
                  <a:latin typeface="Noto Sans KR"/>
                  <a:ea typeface="Noto Sans KR"/>
                </a:rPr>
                <a:t>Output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2894BDE-3A9D-F647-9AC8-E831A9441822}"/>
                </a:ext>
              </a:extLst>
            </p:cNvPr>
            <p:cNvSpPr/>
            <p:nvPr/>
          </p:nvSpPr>
          <p:spPr>
            <a:xfrm>
              <a:off x="3620017" y="3006088"/>
              <a:ext cx="38100" cy="1206500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60FA3F-3701-A344-8C3F-14A8E9599FD0}"/>
                </a:ext>
              </a:extLst>
            </p:cNvPr>
            <p:cNvSpPr/>
            <p:nvPr/>
          </p:nvSpPr>
          <p:spPr>
            <a:xfrm>
              <a:off x="1353067" y="4193538"/>
              <a:ext cx="4572000" cy="38100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91D96D-F2E5-924E-8D80-1B63353296AA}"/>
                </a:ext>
              </a:extLst>
            </p:cNvPr>
            <p:cNvSpPr/>
            <p:nvPr/>
          </p:nvSpPr>
          <p:spPr>
            <a:xfrm>
              <a:off x="1334017" y="4212588"/>
              <a:ext cx="38100" cy="444500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B212CA5E-3BB8-2440-825A-9675F973A3A1}"/>
                </a:ext>
              </a:extLst>
            </p:cNvPr>
            <p:cNvSpPr/>
            <p:nvPr/>
          </p:nvSpPr>
          <p:spPr>
            <a:xfrm>
              <a:off x="400567" y="4657088"/>
              <a:ext cx="1905000" cy="12065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1F6FEB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1F6FEB"/>
                  </a:solidFill>
                  <a:latin typeface="Noto Sans KR"/>
                  <a:ea typeface="Noto Sans KR"/>
                </a:rPr>
                <a:t>Retrieval</a:t>
              </a:r>
            </a:p>
            <a:p>
              <a:pPr algn="ctr"/>
              <a:r>
                <a:rPr lang="en-US" sz="1300" dirty="0">
                  <a:solidFill>
                    <a:srgbClr val="000000"/>
                  </a:solidFill>
                  <a:latin typeface="Noto Sans KR"/>
                  <a:ea typeface="Noto Sans KR"/>
                </a:rPr>
                <a:t>외부 지식 검색 (RAG)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15201ED-AA5A-8A47-989A-C53219F81454}"/>
                </a:ext>
              </a:extLst>
            </p:cNvPr>
            <p:cNvSpPr/>
            <p:nvPr/>
          </p:nvSpPr>
          <p:spPr>
            <a:xfrm>
              <a:off x="3620017" y="4212588"/>
              <a:ext cx="38100" cy="444500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307BAC4-F108-D24F-970C-A33872AE5A65}"/>
                </a:ext>
              </a:extLst>
            </p:cNvPr>
            <p:cNvSpPr/>
            <p:nvPr/>
          </p:nvSpPr>
          <p:spPr>
            <a:xfrm>
              <a:off x="2686567" y="4657088"/>
              <a:ext cx="1905000" cy="12065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E8730A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E8730A"/>
                  </a:solidFill>
                  <a:latin typeface="Noto Sans KR"/>
                  <a:ea typeface="Noto Sans KR"/>
                </a:rPr>
                <a:t>Tools</a:t>
              </a:r>
            </a:p>
            <a:p>
              <a:pPr algn="ctr"/>
              <a:r>
                <a:rPr lang="en-US" sz="1300" dirty="0">
                  <a:solidFill>
                    <a:srgbClr val="000000"/>
                  </a:solidFill>
                  <a:latin typeface="Noto Sans KR"/>
                  <a:ea typeface="Noto Sans KR"/>
                </a:rPr>
                <a:t>API · 함수 호출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576D814-B13D-304F-BBC8-73B494735F1D}"/>
                </a:ext>
              </a:extLst>
            </p:cNvPr>
            <p:cNvSpPr/>
            <p:nvPr/>
          </p:nvSpPr>
          <p:spPr>
            <a:xfrm>
              <a:off x="5906017" y="4212588"/>
              <a:ext cx="38100" cy="444500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EC492884-C85B-544A-8D52-8D864C79A726}"/>
                </a:ext>
              </a:extLst>
            </p:cNvPr>
            <p:cNvSpPr/>
            <p:nvPr/>
          </p:nvSpPr>
          <p:spPr>
            <a:xfrm>
              <a:off x="4972567" y="4657088"/>
              <a:ext cx="1905000" cy="12065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8957E5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8957E5"/>
                  </a:solidFill>
                  <a:latin typeface="Noto Sans KR"/>
                  <a:ea typeface="Noto Sans KR"/>
                </a:rPr>
                <a:t>Memory</a:t>
              </a:r>
            </a:p>
            <a:p>
              <a:pPr algn="ctr"/>
              <a:r>
                <a:rPr lang="en-US" sz="1300" dirty="0">
                  <a:solidFill>
                    <a:srgbClr val="000000"/>
                  </a:solidFill>
                  <a:latin typeface="Noto Sans KR"/>
                  <a:ea typeface="Noto Sans KR"/>
                </a:rPr>
                <a:t>대화 · 상태 기억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00594F5-8836-3E75-F6AA-78B26A172C29}"/>
              </a:ext>
            </a:extLst>
          </p:cNvPr>
          <p:cNvSpPr txBox="1"/>
          <p:nvPr/>
        </p:nvSpPr>
        <p:spPr>
          <a:xfrm>
            <a:off x="6951095" y="1947544"/>
            <a:ext cx="4938122" cy="368300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err="1">
                <a:solidFill>
                  <a:srgbClr val="000000"/>
                </a:solidFill>
                <a:latin typeface="Noto Sans KR"/>
                <a:ea typeface="Noto Sans KR"/>
              </a:rPr>
              <a:t>주요</a:t>
            </a:r>
            <a:r>
              <a:rPr lang="en-US" sz="200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Noto Sans KR"/>
                <a:ea typeface="Noto Sans KR"/>
              </a:rPr>
              <a:t>프론티어모델</a:t>
            </a:r>
            <a:r>
              <a:rPr lang="en-US" sz="2000" dirty="0">
                <a:solidFill>
                  <a:srgbClr val="000000"/>
                </a:solidFill>
                <a:latin typeface="Noto Sans KR"/>
                <a:ea typeface="Noto Sans KR"/>
              </a:rPr>
              <a:t> (ChatGPT, Gemini, Claude, …) </a:t>
            </a:r>
            <a:r>
              <a:rPr lang="en-US" sz="2000" dirty="0" err="1">
                <a:solidFill>
                  <a:srgbClr val="000000"/>
                </a:solidFill>
                <a:latin typeface="Noto Sans KR"/>
                <a:ea typeface="Noto Sans KR"/>
              </a:rPr>
              <a:t>모두</a:t>
            </a:r>
            <a:r>
              <a:rPr lang="en-US" sz="2000" dirty="0">
                <a:solidFill>
                  <a:srgbClr val="000000"/>
                </a:solidFill>
                <a:latin typeface="Noto Sans KR"/>
                <a:ea typeface="Noto Sans KR"/>
              </a:rPr>
              <a:t> Augmented LLM </a:t>
            </a:r>
            <a:r>
              <a:rPr lang="en-US" sz="2000" dirty="0" err="1">
                <a:solidFill>
                  <a:srgbClr val="000000"/>
                </a:solidFill>
                <a:latin typeface="Noto Sans KR"/>
                <a:ea typeface="Noto Sans KR"/>
              </a:rPr>
              <a:t>구조</a:t>
            </a:r>
            <a:endParaRPr lang="en-US" sz="2000" dirty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endParaRPr lang="en-US" sz="2000" dirty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err="1">
                <a:solidFill>
                  <a:srgbClr val="000000"/>
                </a:solidFill>
              </a:rPr>
              <a:t>단순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텍스트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생성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→ </a:t>
            </a:r>
            <a:r>
              <a:rPr lang="en-US" sz="2000" dirty="0" err="1">
                <a:solidFill>
                  <a:srgbClr val="000000"/>
                </a:solidFill>
              </a:rPr>
              <a:t>검색</a:t>
            </a:r>
            <a:r>
              <a:rPr lang="en-US" sz="2000" dirty="0">
                <a:solidFill>
                  <a:srgbClr val="000000"/>
                </a:solidFill>
              </a:rPr>
              <a:t>(RAG)·</a:t>
            </a:r>
            <a:r>
              <a:rPr lang="en-US" sz="2000" dirty="0" err="1">
                <a:solidFill>
                  <a:srgbClr val="000000"/>
                </a:solidFill>
              </a:rPr>
              <a:t>도구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호출·메모리로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능력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확장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D84D64-860C-8064-A894-68548FA81F54}"/>
              </a:ext>
            </a:extLst>
          </p:cNvPr>
          <p:cNvSpPr txBox="1"/>
          <p:nvPr/>
        </p:nvSpPr>
        <p:spPr>
          <a:xfrm>
            <a:off x="2283732" y="1401762"/>
            <a:ext cx="2622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Augmented LLM</a:t>
            </a:r>
            <a:endParaRPr lang="en-KR" sz="2400" b="1" dirty="0"/>
          </a:p>
        </p:txBody>
      </p:sp>
    </p:spTree>
    <p:extLst>
      <p:ext uri="{BB962C8B-B14F-4D97-AF65-F5344CB8AC3E}">
        <p14:creationId xmlns:p14="http://schemas.microsoft.com/office/powerpoint/2010/main" val="26077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5CBD4F6D-9EF3-F2CE-9C11-8F9FCE524A95}"/>
              </a:ext>
            </a:extLst>
          </p:cNvPr>
          <p:cNvSpPr/>
          <p:nvPr/>
        </p:nvSpPr>
        <p:spPr>
          <a:xfrm>
            <a:off x="5915980" y="2025390"/>
            <a:ext cx="3319364" cy="217187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83F9A-5F2E-8EFC-01B2-977C8F8A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AI Agent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13BA3-FDC8-B410-3E23-BC888E4ED85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AEF9-2D63-A66E-FE62-8C604DA2D6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935D5-33C4-9085-B9FE-182331ED8E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744D35A-419D-9ED2-08DC-99D09D8DA0E1}"/>
              </a:ext>
            </a:extLst>
          </p:cNvPr>
          <p:cNvGrpSpPr/>
          <p:nvPr/>
        </p:nvGrpSpPr>
        <p:grpSpPr>
          <a:xfrm>
            <a:off x="2233355" y="2721154"/>
            <a:ext cx="7727878" cy="3030370"/>
            <a:chOff x="508000" y="1397000"/>
            <a:chExt cx="11303000" cy="4432300"/>
          </a:xfrm>
        </p:grpSpPr>
        <p:sp>
          <p:nvSpPr>
            <p:cNvPr id="300" name="Goal"/>
            <p:cNvSpPr/>
            <p:nvPr/>
          </p:nvSpPr>
          <p:spPr>
            <a:xfrm>
              <a:off x="508000" y="1498600"/>
              <a:ext cx="2286000" cy="1066800"/>
            </a:xfrm>
            <a:prstGeom prst="roundRect">
              <a:avLst/>
            </a:prstGeom>
            <a:solidFill>
              <a:srgbClr val="ECE7DF"/>
            </a:solidFill>
            <a:ln w="19050">
              <a:solidFill>
                <a:srgbClr val="C9BFB0"/>
              </a:solidFill>
            </a:ln>
          </p:spPr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rgbClr val="3A3A3A"/>
                  </a:solidFill>
                  <a:latin typeface="Noto Sans KR"/>
                  <a:ea typeface="Noto Sans KR"/>
                </a:rPr>
                <a:t>목표 / 입력</a:t>
              </a:r>
            </a:p>
          </p:txBody>
        </p:sp>
        <p:sp>
          <p:nvSpPr>
            <p:cNvPr id="301" name="LLM"/>
            <p:cNvSpPr/>
            <p:nvPr/>
          </p:nvSpPr>
          <p:spPr>
            <a:xfrm>
              <a:off x="4762500" y="1422400"/>
              <a:ext cx="2667000" cy="1219200"/>
            </a:xfrm>
            <a:prstGeom prst="roundRect">
              <a:avLst/>
            </a:prstGeom>
            <a:solidFill>
              <a:srgbClr val="E6E4FA"/>
            </a:solidFill>
            <a:ln w="19050">
              <a:solidFill>
                <a:srgbClr val="6C5CE0"/>
              </a:solidFill>
            </a:ln>
          </p:spPr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rgbClr val="3B2FA6"/>
                  </a:solidFill>
                  <a:latin typeface="Noto Sans KR"/>
                  <a:ea typeface="Noto Sans KR"/>
                </a:rPr>
                <a:t>LLM</a:t>
              </a:r>
            </a:p>
            <a:p>
              <a:pPr algn="ctr">
                <a:spcBef>
                  <a:spcPts val="300"/>
                </a:spcBef>
              </a:pPr>
              <a:r>
                <a:rPr lang="en-US" sz="1300" dirty="0">
                  <a:solidFill>
                    <a:srgbClr val="6C5CE0"/>
                  </a:solidFill>
                  <a:latin typeface="Noto Sans KR"/>
                  <a:ea typeface="Noto Sans KR"/>
                </a:rPr>
                <a:t>추론 · 판단 · 결정</a:t>
              </a:r>
            </a:p>
          </p:txBody>
        </p:sp>
        <p:sp>
          <p:nvSpPr>
            <p:cNvPr id="302" name="Tool"/>
            <p:cNvSpPr/>
            <p:nvPr/>
          </p:nvSpPr>
          <p:spPr>
            <a:xfrm>
              <a:off x="9144000" y="1422400"/>
              <a:ext cx="2667000" cy="1219200"/>
            </a:xfrm>
            <a:prstGeom prst="roundRect">
              <a:avLst/>
            </a:prstGeom>
            <a:solidFill>
              <a:srgbClr val="DDF0E7"/>
            </a:solidFill>
            <a:ln w="19050">
              <a:solidFill>
                <a:srgbClr val="5FB89A"/>
              </a:solidFill>
            </a:ln>
          </p:spPr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rgbClr val="1F7A5C"/>
                  </a:solidFill>
                  <a:latin typeface="Noto Sans KR"/>
                  <a:ea typeface="Noto Sans KR"/>
                </a:rPr>
                <a:t>도구 실행</a:t>
              </a:r>
            </a:p>
            <a:p>
              <a:pPr algn="ctr">
                <a:spcBef>
                  <a:spcPts val="300"/>
                </a:spcBef>
              </a:pPr>
              <a:r>
                <a:rPr lang="en-US" sz="1300" dirty="0">
                  <a:solidFill>
                    <a:srgbClr val="2E9E78"/>
                  </a:solidFill>
                  <a:latin typeface="Noto Sans KR"/>
                  <a:ea typeface="Noto Sans KR"/>
                </a:rPr>
                <a:t>검색 · 코드 · API</a:t>
              </a:r>
            </a:p>
          </p:txBody>
        </p:sp>
        <p:sp>
          <p:nvSpPr>
            <p:cNvPr id="303" name="Answer"/>
            <p:cNvSpPr/>
            <p:nvPr/>
          </p:nvSpPr>
          <p:spPr>
            <a:xfrm>
              <a:off x="4762500" y="4762500"/>
              <a:ext cx="2667000" cy="1066800"/>
            </a:xfrm>
            <a:prstGeom prst="roundRect">
              <a:avLst/>
            </a:prstGeom>
            <a:solidFill>
              <a:srgbClr val="ECE7DF"/>
            </a:solidFill>
            <a:ln w="19050">
              <a:solidFill>
                <a:srgbClr val="C9BFB0"/>
              </a:solidFill>
            </a:ln>
          </p:spPr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rgbClr val="3A3A3A"/>
                  </a:solidFill>
                  <a:latin typeface="Noto Sans KR"/>
                  <a:ea typeface="Noto Sans KR"/>
                </a:rPr>
                <a:t>답변 / 종료</a:t>
              </a:r>
            </a:p>
          </p:txBody>
        </p:sp>
        <p:cxnSp>
          <p:nvCxnSpPr>
            <p:cNvPr id="340" name="a_goal"/>
            <p:cNvCxnSpPr/>
            <p:nvPr/>
          </p:nvCxnSpPr>
          <p:spPr>
            <a:xfrm>
              <a:off x="2895600" y="2032000"/>
              <a:ext cx="1765300" cy="12700"/>
            </a:xfrm>
            <a:prstGeom prst="straightConnector1">
              <a:avLst/>
            </a:prstGeom>
            <a:ln w="25400">
              <a:solidFill>
                <a:srgbClr val="8A8F87"/>
              </a:solidFill>
              <a:tailEnd type="triangle" w="med" len="med"/>
            </a:ln>
          </p:spPr>
        </p:cxnSp>
        <p:cxnSp>
          <p:nvCxnSpPr>
            <p:cNvPr id="341" name="a_call"/>
            <p:cNvCxnSpPr/>
            <p:nvPr/>
          </p:nvCxnSpPr>
          <p:spPr>
            <a:xfrm>
              <a:off x="7531100" y="1752600"/>
              <a:ext cx="1511300" cy="12700"/>
            </a:xfrm>
            <a:prstGeom prst="straightConnector1">
              <a:avLst/>
            </a:prstGeom>
            <a:ln w="25400">
              <a:solidFill>
                <a:srgbClr val="8A8F87"/>
              </a:solidFill>
              <a:tailEnd type="triangle" w="med" len="med"/>
            </a:ln>
          </p:spPr>
        </p:cxnSp>
        <p:sp>
          <p:nvSpPr>
            <p:cNvPr id="342" name="lbl"/>
            <p:cNvSpPr txBox="1"/>
            <p:nvPr/>
          </p:nvSpPr>
          <p:spPr>
            <a:xfrm>
              <a:off x="7772400" y="1397000"/>
              <a:ext cx="1143000" cy="279400"/>
            </a:xfrm>
            <a:prstGeom prst="rect">
              <a:avLst/>
            </a:prstGeom>
            <a:noFill/>
          </p:spPr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3A3A3A"/>
                  </a:solidFill>
                  <a:latin typeface="Noto Sans KR"/>
                  <a:ea typeface="Noto Sans KR"/>
                </a:rPr>
                <a:t>호출</a:t>
              </a:r>
            </a:p>
          </p:txBody>
        </p:sp>
        <p:cxnSp>
          <p:nvCxnSpPr>
            <p:cNvPr id="343" name="a_fb"/>
            <p:cNvCxnSpPr/>
            <p:nvPr/>
          </p:nvCxnSpPr>
          <p:spPr>
            <a:xfrm flipH="1">
              <a:off x="7531100" y="2349500"/>
              <a:ext cx="1511300" cy="12700"/>
            </a:xfrm>
            <a:prstGeom prst="straightConnector1">
              <a:avLst/>
            </a:prstGeom>
            <a:ln w="25400">
              <a:solidFill>
                <a:srgbClr val="8A8F87"/>
              </a:solidFill>
              <a:tailEnd type="triangle" w="med" len="med"/>
            </a:ln>
          </p:spPr>
        </p:cxnSp>
        <p:sp>
          <p:nvSpPr>
            <p:cNvPr id="344" name="lbl"/>
            <p:cNvSpPr txBox="1"/>
            <p:nvPr/>
          </p:nvSpPr>
          <p:spPr>
            <a:xfrm>
              <a:off x="7620000" y="2438400"/>
              <a:ext cx="1524000" cy="279400"/>
            </a:xfrm>
            <a:prstGeom prst="rect">
              <a:avLst/>
            </a:prstGeom>
            <a:noFill/>
          </p:spPr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rgbClr val="3A3A3A"/>
                  </a:solidFill>
                  <a:latin typeface="Noto Sans KR"/>
                  <a:ea typeface="Noto Sans KR"/>
                </a:rPr>
                <a:t>결과</a:t>
              </a:r>
              <a:endParaRPr lang="en-US" sz="1400" dirty="0">
                <a:solidFill>
                  <a:srgbClr val="3A3A3A"/>
                </a:solidFill>
                <a:latin typeface="Noto Sans KR"/>
                <a:ea typeface="Noto Sans KR"/>
              </a:endParaRPr>
            </a:p>
          </p:txBody>
        </p:sp>
        <p:cxnSp>
          <p:nvCxnSpPr>
            <p:cNvPr id="345" name="a_stop"/>
            <p:cNvCxnSpPr/>
            <p:nvPr/>
          </p:nvCxnSpPr>
          <p:spPr>
            <a:xfrm>
              <a:off x="6096000" y="2743200"/>
              <a:ext cx="12700" cy="1917700"/>
            </a:xfrm>
            <a:prstGeom prst="straightConnector1">
              <a:avLst/>
            </a:prstGeom>
            <a:ln w="25400">
              <a:solidFill>
                <a:srgbClr val="8A8F87"/>
              </a:solidFill>
              <a:tailEnd type="triangle" w="med" len="med"/>
            </a:ln>
          </p:spPr>
        </p:cxnSp>
        <p:sp>
          <p:nvSpPr>
            <p:cNvPr id="346" name="lbl"/>
            <p:cNvSpPr txBox="1"/>
            <p:nvPr/>
          </p:nvSpPr>
          <p:spPr>
            <a:xfrm>
              <a:off x="3971975" y="3555998"/>
              <a:ext cx="2273083" cy="384675"/>
            </a:xfrm>
            <a:prstGeom prst="rect">
              <a:avLst/>
            </a:prstGeom>
            <a:noFill/>
          </p:spPr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3A3A3A"/>
                  </a:solidFill>
                  <a:latin typeface="Noto Sans KR"/>
                  <a:ea typeface="Noto Sans KR"/>
                </a:rPr>
                <a:t>종료조건 충족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C7AD49A-CBD0-8B94-A0F7-0D7B00CD923A}"/>
              </a:ext>
            </a:extLst>
          </p:cNvPr>
          <p:cNvSpPr txBox="1"/>
          <p:nvPr/>
        </p:nvSpPr>
        <p:spPr>
          <a:xfrm>
            <a:off x="748785" y="1356413"/>
            <a:ext cx="10607600" cy="7112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3B2FA6"/>
                </a:solidFill>
                <a:latin typeface="Noto Sans KR"/>
                <a:ea typeface="Noto Sans KR"/>
              </a:rPr>
              <a:t>AI Agent</a:t>
            </a:r>
            <a:r>
              <a:rPr lang="en-US" dirty="0">
                <a:solidFill>
                  <a:srgbClr val="000000"/>
                </a:solidFill>
                <a:latin typeface="Noto Sans KR"/>
                <a:ea typeface="Noto Sans KR"/>
              </a:rPr>
              <a:t> : </a:t>
            </a:r>
            <a:r>
              <a:rPr lang="en-US" b="1" dirty="0" err="1">
                <a:solidFill>
                  <a:srgbClr val="FF0000"/>
                </a:solidFill>
                <a:latin typeface="Noto Sans KR"/>
                <a:ea typeface="Noto Sans KR"/>
              </a:rPr>
              <a:t>LLM의</a:t>
            </a:r>
            <a:r>
              <a:rPr lang="en-US" b="1" dirty="0">
                <a:solidFill>
                  <a:srgbClr val="FF0000"/>
                </a:solidFill>
                <a:latin typeface="Noto Sans KR"/>
                <a:ea typeface="Noto Sans KR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Noto Sans KR"/>
                <a:ea typeface="Noto Sans KR"/>
              </a:rPr>
              <a:t>추론과</a:t>
            </a:r>
            <a:r>
              <a:rPr lang="en-US" b="1" dirty="0">
                <a:solidFill>
                  <a:srgbClr val="FF0000"/>
                </a:solidFill>
                <a:latin typeface="Noto Sans KR"/>
                <a:ea typeface="Noto Sans KR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Noto Sans KR"/>
                <a:ea typeface="Noto Sans KR"/>
              </a:rPr>
              <a:t>판단에</a:t>
            </a:r>
            <a:r>
              <a:rPr lang="en-US" b="1" dirty="0">
                <a:solidFill>
                  <a:srgbClr val="FF0000"/>
                </a:solidFill>
                <a:latin typeface="Noto Sans KR"/>
                <a:ea typeface="Noto Sans KR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Noto Sans KR"/>
                <a:ea typeface="Noto Sans KR"/>
              </a:rPr>
              <a:t>기반한</a:t>
            </a:r>
            <a:r>
              <a:rPr lang="en-US" b="1" dirty="0">
                <a:solidFill>
                  <a:srgbClr val="FF0000"/>
                </a:solidFill>
                <a:latin typeface="Noto Sans KR"/>
                <a:ea typeface="Noto Sans KR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Noto Sans KR"/>
                <a:ea typeface="Noto Sans KR"/>
              </a:rPr>
              <a:t>반복적인</a:t>
            </a:r>
            <a:r>
              <a:rPr lang="en-US" b="1" dirty="0">
                <a:solidFill>
                  <a:srgbClr val="FF0000"/>
                </a:solidFill>
                <a:latin typeface="Noto Sans KR"/>
                <a:ea typeface="Noto Sans KR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Noto Sans KR"/>
                <a:ea typeface="Noto Sans KR"/>
              </a:rPr>
              <a:t>도구</a:t>
            </a:r>
            <a:r>
              <a:rPr lang="en-US" b="1" dirty="0">
                <a:solidFill>
                  <a:srgbClr val="FF0000"/>
                </a:solidFill>
                <a:latin typeface="Noto Sans KR"/>
                <a:ea typeface="Noto Sans KR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Noto Sans KR"/>
                <a:ea typeface="Noto Sans KR"/>
              </a:rPr>
              <a:t>사용을</a:t>
            </a:r>
            <a:r>
              <a:rPr lang="en-US" b="1" dirty="0">
                <a:solidFill>
                  <a:srgbClr val="FF0000"/>
                </a:solidFill>
                <a:latin typeface="Noto Sans KR"/>
                <a:ea typeface="Noto Sans KR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Noto Sans KR"/>
                <a:ea typeface="Noto Sans KR"/>
              </a:rPr>
              <a:t>통해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자율적으로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주어진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Noto Sans KR"/>
                <a:ea typeface="Noto Sans KR"/>
              </a:rPr>
              <a:t>목표를</a:t>
            </a:r>
            <a:r>
              <a:rPr lang="en-US" b="1" dirty="0">
                <a:solidFill>
                  <a:srgbClr val="FF0000"/>
                </a:solidFill>
                <a:latin typeface="Noto Sans KR"/>
                <a:ea typeface="Noto Sans KR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Noto Sans KR"/>
                <a:ea typeface="Noto Sans KR"/>
              </a:rPr>
              <a:t>달성</a:t>
            </a:r>
            <a:endParaRPr lang="en-US" b="1" dirty="0">
              <a:solidFill>
                <a:srgbClr val="FF0000"/>
              </a:solidFill>
              <a:latin typeface="Noto Sans KR"/>
              <a:ea typeface="Noto Sans K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4C224E-F63D-073A-7844-EE55ED9E2434}"/>
              </a:ext>
            </a:extLst>
          </p:cNvPr>
          <p:cNvSpPr txBox="1"/>
          <p:nvPr/>
        </p:nvSpPr>
        <p:spPr>
          <a:xfrm>
            <a:off x="2625831" y="5939996"/>
            <a:ext cx="694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https://www.anthropic.com/research/building-effective-agents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C5E09E-8495-88F0-0F9B-C2267FE8A374}"/>
              </a:ext>
            </a:extLst>
          </p:cNvPr>
          <p:cNvSpPr txBox="1"/>
          <p:nvPr/>
        </p:nvSpPr>
        <p:spPr>
          <a:xfrm>
            <a:off x="6887694" y="2178161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b="1" dirty="0"/>
              <a:t>Agent loop</a:t>
            </a:r>
          </a:p>
        </p:txBody>
      </p:sp>
    </p:spTree>
    <p:extLst>
      <p:ext uri="{BB962C8B-B14F-4D97-AF65-F5344CB8AC3E}">
        <p14:creationId xmlns:p14="http://schemas.microsoft.com/office/powerpoint/2010/main" val="1676022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67A8D-0559-8084-54A0-5D832D6F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09F4-CC74-82FC-1754-2D3725B7E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Noto Sans KR"/>
                <a:ea typeface="Noto Sans KR"/>
              </a:rPr>
              <a:t>AI Coding Agents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E5FC2-7985-4031-3963-A6F4643243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8A22A-A24E-B7E3-7D17-9AE6B7F478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C5027-92D4-6E2E-F353-E599A8E7F6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0" name="Subtitle"/>
          <p:cNvSpPr txBox="1"/>
          <p:nvPr/>
        </p:nvSpPr>
        <p:spPr>
          <a:xfrm>
            <a:off x="1054100" y="1371600"/>
            <a:ext cx="10307486" cy="762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ts val="2600"/>
              </a:lnSpc>
            </a:pPr>
            <a:r>
              <a:rPr lang="en-US" sz="2000" b="1" dirty="0">
                <a:solidFill>
                  <a:srgbClr val="3B2FA6"/>
                </a:solidFill>
                <a:latin typeface="Noto Sans KR"/>
                <a:ea typeface="Noto Sans KR"/>
              </a:rPr>
              <a:t>Coding Agents</a:t>
            </a:r>
            <a:r>
              <a:rPr lang="en-US" sz="2000" dirty="0">
                <a:solidFill>
                  <a:srgbClr val="222222"/>
                </a:solidFill>
                <a:latin typeface="Noto Sans KR"/>
                <a:ea typeface="Noto Sans KR"/>
              </a:rPr>
              <a:t> : </a:t>
            </a:r>
            <a:r>
              <a:rPr lang="en-US" sz="2000" dirty="0" err="1">
                <a:solidFill>
                  <a:srgbClr val="222222"/>
                </a:solidFill>
                <a:latin typeface="Noto Sans KR"/>
                <a:ea typeface="Noto Sans KR"/>
              </a:rPr>
              <a:t>코딩에</a:t>
            </a:r>
            <a:r>
              <a:rPr lang="en-US" sz="200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lang="en-US" sz="2000" dirty="0" err="1">
                <a:solidFill>
                  <a:srgbClr val="222222"/>
                </a:solidFill>
                <a:latin typeface="Noto Sans KR"/>
                <a:ea typeface="Noto Sans KR"/>
              </a:rPr>
              <a:t>가장</a:t>
            </a:r>
            <a:r>
              <a:rPr lang="en-US" sz="200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lang="en-US" sz="2000" dirty="0" err="1">
                <a:solidFill>
                  <a:srgbClr val="222222"/>
                </a:solidFill>
                <a:latin typeface="Noto Sans KR"/>
                <a:ea typeface="Noto Sans KR"/>
              </a:rPr>
              <a:t>강하지만</a:t>
            </a:r>
            <a:r>
              <a:rPr lang="en-US" sz="2000" dirty="0">
                <a:solidFill>
                  <a:srgbClr val="222222"/>
                </a:solidFill>
                <a:latin typeface="Noto Sans KR"/>
                <a:ea typeface="Noto Sans KR"/>
              </a:rPr>
              <a:t>, </a:t>
            </a:r>
            <a:r>
              <a:rPr lang="en-US" sz="2000" dirty="0" err="1">
                <a:solidFill>
                  <a:srgbClr val="222222"/>
                </a:solidFill>
                <a:latin typeface="Noto Sans KR"/>
                <a:ea typeface="Noto Sans KR"/>
              </a:rPr>
              <a:t>컴퓨터로</a:t>
            </a:r>
            <a:r>
              <a:rPr lang="en-US" sz="200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lang="en-US" sz="2000" dirty="0" err="1">
                <a:solidFill>
                  <a:srgbClr val="222222"/>
                </a:solidFill>
                <a:latin typeface="Noto Sans KR"/>
                <a:ea typeface="Noto Sans KR"/>
              </a:rPr>
              <a:t>하는</a:t>
            </a:r>
            <a:r>
              <a:rPr lang="en-US" sz="200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lang="en-US" sz="2000" dirty="0" err="1">
                <a:solidFill>
                  <a:srgbClr val="222222"/>
                </a:solidFill>
                <a:latin typeface="Noto Sans KR"/>
                <a:ea typeface="Noto Sans KR"/>
              </a:rPr>
              <a:t>일반</a:t>
            </a:r>
            <a:r>
              <a:rPr lang="en-US" sz="200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lang="en-US" sz="2000" dirty="0" err="1">
                <a:solidFill>
                  <a:srgbClr val="222222"/>
                </a:solidFill>
                <a:latin typeface="Noto Sans KR"/>
                <a:ea typeface="Noto Sans KR"/>
              </a:rPr>
              <a:t>작업</a:t>
            </a:r>
            <a:r>
              <a:rPr lang="en-US" sz="200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lang="en-US" sz="2000" dirty="0" err="1">
                <a:solidFill>
                  <a:srgbClr val="222222"/>
                </a:solidFill>
                <a:latin typeface="Noto Sans KR"/>
                <a:ea typeface="Noto Sans KR"/>
              </a:rPr>
              <a:t>전반에</a:t>
            </a:r>
            <a:r>
              <a:rPr lang="en-US" sz="200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lang="en-US" sz="2000" dirty="0" err="1">
                <a:solidFill>
                  <a:srgbClr val="222222"/>
                </a:solidFill>
                <a:latin typeface="Noto Sans KR"/>
                <a:ea typeface="Noto Sans KR"/>
              </a:rPr>
              <a:t>매우</a:t>
            </a:r>
            <a:r>
              <a:rPr lang="en-US" sz="200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lang="en-US" sz="2000" dirty="0" err="1">
                <a:solidFill>
                  <a:srgbClr val="222222"/>
                </a:solidFill>
                <a:latin typeface="Noto Sans KR"/>
                <a:ea typeface="Noto Sans KR"/>
              </a:rPr>
              <a:t>유용한</a:t>
            </a:r>
            <a:r>
              <a:rPr lang="en-US" sz="2000" dirty="0">
                <a:solidFill>
                  <a:srgbClr val="222222"/>
                </a:solidFill>
                <a:latin typeface="Noto Sans KR"/>
                <a:ea typeface="Noto Sans KR"/>
              </a:rPr>
              <a:t> AI Agent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BE894-A82A-65D9-7579-52FD885F15F5}"/>
              </a:ext>
            </a:extLst>
          </p:cNvPr>
          <p:cNvSpPr txBox="1"/>
          <p:nvPr/>
        </p:nvSpPr>
        <p:spPr>
          <a:xfrm>
            <a:off x="1054100" y="1979028"/>
            <a:ext cx="7730001" cy="1627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200" b="1" dirty="0">
                <a:latin typeface="Noto Sans KR"/>
                <a:ea typeface="Noto Sans KR"/>
              </a:rPr>
              <a:t>가장 많이 쓰이는 Coding Agents</a:t>
            </a:r>
          </a:p>
          <a:p>
            <a:pPr marL="342900" indent="-342900">
              <a:lnSpc>
                <a:spcPts val="3000"/>
              </a:lnSpc>
              <a:buFont typeface="Wingdings" pitchFamily="2" charset="2"/>
              <a:buChar char="Ø"/>
            </a:pPr>
            <a:r>
              <a:rPr lang="en-US" sz="2000" dirty="0">
                <a:latin typeface="Noto Sans KR"/>
                <a:ea typeface="Noto Sans KR"/>
              </a:rPr>
              <a:t>Claude Code by Anthropic</a:t>
            </a:r>
          </a:p>
          <a:p>
            <a:pPr marL="342900" indent="-342900">
              <a:lnSpc>
                <a:spcPts val="3000"/>
              </a:lnSpc>
              <a:buFont typeface="Wingdings" pitchFamily="2" charset="2"/>
              <a:buChar char="Ø"/>
            </a:pPr>
            <a:r>
              <a:rPr lang="en-US" sz="2000" dirty="0">
                <a:latin typeface="Noto Sans KR"/>
                <a:ea typeface="Noto Sans KR"/>
              </a:rPr>
              <a:t>Codex by OpenAI</a:t>
            </a:r>
          </a:p>
          <a:p>
            <a:pPr marL="342900" indent="-342900">
              <a:lnSpc>
                <a:spcPts val="3000"/>
              </a:lnSpc>
              <a:buFont typeface="Wingdings" pitchFamily="2" charset="2"/>
              <a:buChar char="Ø"/>
            </a:pPr>
            <a:r>
              <a:rPr lang="en-US" sz="2000" dirty="0" err="1">
                <a:latin typeface="Noto Sans KR"/>
                <a:ea typeface="Noto Sans KR"/>
              </a:rPr>
              <a:t>이</a:t>
            </a:r>
            <a:r>
              <a:rPr lang="en-US" sz="2000" dirty="0">
                <a:latin typeface="Noto Sans KR"/>
                <a:ea typeface="Noto Sans KR"/>
              </a:rPr>
              <a:t> </a:t>
            </a:r>
            <a:r>
              <a:rPr lang="en-US" sz="2000" dirty="0" err="1">
                <a:latin typeface="Noto Sans KR"/>
                <a:ea typeface="Noto Sans KR"/>
              </a:rPr>
              <a:t>외에도</a:t>
            </a:r>
            <a:r>
              <a:rPr lang="en-US" sz="2000" dirty="0">
                <a:latin typeface="Noto Sans KR"/>
                <a:ea typeface="Noto Sans KR"/>
              </a:rPr>
              <a:t> </a:t>
            </a:r>
            <a:r>
              <a:rPr lang="en-US" sz="2000" dirty="0" err="1">
                <a:latin typeface="Noto Sans KR"/>
                <a:ea typeface="Noto Sans KR"/>
              </a:rPr>
              <a:t>다양한</a:t>
            </a:r>
            <a:r>
              <a:rPr lang="en-US" sz="2000" dirty="0">
                <a:latin typeface="Noto Sans KR"/>
                <a:ea typeface="Noto Sans KR"/>
              </a:rPr>
              <a:t> custom agent </a:t>
            </a:r>
            <a:r>
              <a:rPr lang="en-US" sz="2000" dirty="0" err="1">
                <a:latin typeface="Noto Sans KR"/>
                <a:ea typeface="Noto Sans KR"/>
              </a:rPr>
              <a:t>구성</a:t>
            </a:r>
            <a:r>
              <a:rPr lang="en-US" sz="2000" dirty="0">
                <a:latin typeface="Noto Sans KR"/>
                <a:ea typeface="Noto Sans KR"/>
              </a:rPr>
              <a:t> </a:t>
            </a:r>
            <a:r>
              <a:rPr lang="en-US" sz="2000" dirty="0" err="1">
                <a:latin typeface="Noto Sans KR"/>
                <a:ea typeface="Noto Sans KR"/>
              </a:rPr>
              <a:t>가능</a:t>
            </a:r>
            <a:r>
              <a:rPr lang="en-US" sz="2000" dirty="0">
                <a:latin typeface="Noto Sans KR"/>
                <a:ea typeface="Noto Sans KR"/>
              </a:rPr>
              <a:t> (LLM + agent harness)</a:t>
            </a:r>
          </a:p>
        </p:txBody>
      </p:sp>
      <p:sp>
        <p:nvSpPr>
          <p:cNvPr id="301" name="card301"/>
          <p:cNvSpPr/>
          <p:nvPr/>
        </p:nvSpPr>
        <p:spPr>
          <a:xfrm>
            <a:off x="1054100" y="4065448"/>
            <a:ext cx="3191933" cy="1905000"/>
          </a:xfrm>
          <a:prstGeom prst="roundRect">
            <a:avLst>
              <a:gd name="adj" fmla="val 6000"/>
            </a:avLst>
          </a:prstGeom>
          <a:solidFill>
            <a:srgbClr val="D6EFE6"/>
          </a:solidFill>
          <a:ln w="12700">
            <a:solidFill>
              <a:srgbClr val="9CC9B6"/>
            </a:solidFill>
          </a:ln>
        </p:spPr>
        <p:txBody>
          <a:bodyPr lIns="137160" tIns="109728" rIns="91440" bIns="91440" anchor="t"/>
          <a:lstStyle/>
          <a:p>
            <a:pPr>
              <a:spcAft>
                <a:spcPts val="400"/>
              </a:spcAft>
            </a:pPr>
            <a:r>
              <a:rPr lang="en-US" sz="2200" b="1" dirty="0">
                <a:solidFill>
                  <a:srgbClr val="1E5C44"/>
                </a:solidFill>
                <a:latin typeface="Noto Sans KR"/>
                <a:ea typeface="Noto Sans KR"/>
              </a:rPr>
              <a:t>Claude Code</a:t>
            </a:r>
          </a:p>
          <a:p>
            <a:pPr>
              <a:lnSpc>
                <a:spcPts val="2000"/>
              </a:lnSpc>
            </a:pPr>
            <a:r>
              <a:rPr lang="en-US" sz="1500" dirty="0" err="1">
                <a:solidFill>
                  <a:srgbClr val="333333"/>
                </a:solidFill>
                <a:latin typeface="Noto Sans KR"/>
                <a:ea typeface="Noto Sans KR"/>
              </a:rPr>
              <a:t>Anthropic의</a:t>
            </a:r>
            <a:r>
              <a:rPr lang="en-US" sz="1500" dirty="0">
                <a:solidFill>
                  <a:srgbClr val="333333"/>
                </a:solidFill>
                <a:latin typeface="Noto Sans KR"/>
                <a:ea typeface="Noto Sans KR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Noto Sans KR"/>
                <a:ea typeface="Noto Sans KR"/>
              </a:rPr>
              <a:t>코딩</a:t>
            </a:r>
            <a:r>
              <a:rPr lang="en-US" sz="1500" dirty="0">
                <a:solidFill>
                  <a:srgbClr val="333333"/>
                </a:solidFill>
                <a:latin typeface="Noto Sans KR"/>
                <a:ea typeface="Noto Sans KR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Noto Sans KR"/>
                <a:ea typeface="Noto Sans KR"/>
              </a:rPr>
              <a:t>에이전트</a:t>
            </a:r>
            <a:endParaRPr lang="en-US" sz="1500" dirty="0">
              <a:solidFill>
                <a:srgbClr val="333333"/>
              </a:solidFill>
              <a:latin typeface="Noto Sans KR"/>
              <a:ea typeface="Noto Sans KR"/>
            </a:endParaRPr>
          </a:p>
          <a:p>
            <a:pPr>
              <a:lnSpc>
                <a:spcPts val="2000"/>
              </a:lnSpc>
            </a:pPr>
            <a:r>
              <a:rPr lang="en-US" sz="1500" dirty="0">
                <a:hlinkClick r:id="rId2"/>
              </a:rPr>
              <a:t>https://claude.com/product/claude-code</a:t>
            </a:r>
            <a:endParaRPr lang="en-US" sz="1500" dirty="0"/>
          </a:p>
          <a:p>
            <a:pPr>
              <a:lnSpc>
                <a:spcPts val="2000"/>
              </a:lnSpc>
            </a:pPr>
            <a:endParaRPr lang="en-KR" dirty="0"/>
          </a:p>
        </p:txBody>
      </p:sp>
      <p:sp>
        <p:nvSpPr>
          <p:cNvPr id="302" name="card302"/>
          <p:cNvSpPr/>
          <p:nvPr/>
        </p:nvSpPr>
        <p:spPr>
          <a:xfrm>
            <a:off x="4525433" y="4065448"/>
            <a:ext cx="3191933" cy="1905000"/>
          </a:xfrm>
          <a:prstGeom prst="roundRect">
            <a:avLst>
              <a:gd name="adj" fmla="val 6000"/>
            </a:avLst>
          </a:prstGeom>
          <a:solidFill>
            <a:srgbClr val="E2E2F5"/>
          </a:solidFill>
          <a:ln w="12700">
            <a:solidFill>
              <a:srgbClr val="AFAEDB"/>
            </a:solidFill>
          </a:ln>
        </p:spPr>
        <p:txBody>
          <a:bodyPr lIns="137160" tIns="109728" rIns="91440" bIns="91440" anchor="t"/>
          <a:lstStyle/>
          <a:p>
            <a:pPr>
              <a:spcAft>
                <a:spcPts val="400"/>
              </a:spcAft>
            </a:pPr>
            <a:r>
              <a:rPr lang="en-US" sz="2200" b="1" dirty="0">
                <a:solidFill>
                  <a:srgbClr val="3A2E8C"/>
                </a:solidFill>
                <a:latin typeface="Noto Sans KR"/>
                <a:ea typeface="Noto Sans KR"/>
              </a:rPr>
              <a:t>Codex</a:t>
            </a:r>
          </a:p>
          <a:p>
            <a:pPr>
              <a:lnSpc>
                <a:spcPts val="2000"/>
              </a:lnSpc>
            </a:pPr>
            <a:r>
              <a:rPr lang="en-US" sz="1500" dirty="0" err="1">
                <a:solidFill>
                  <a:srgbClr val="333333"/>
                </a:solidFill>
                <a:latin typeface="Noto Sans KR"/>
                <a:ea typeface="Noto Sans KR"/>
              </a:rPr>
              <a:t>OpenAI의</a:t>
            </a:r>
            <a:r>
              <a:rPr lang="en-US" sz="1500" dirty="0">
                <a:solidFill>
                  <a:srgbClr val="333333"/>
                </a:solidFill>
                <a:latin typeface="Noto Sans KR"/>
                <a:ea typeface="Noto Sans KR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Noto Sans KR"/>
                <a:ea typeface="Noto Sans KR"/>
              </a:rPr>
              <a:t>코딩</a:t>
            </a:r>
            <a:r>
              <a:rPr lang="en-US" sz="1500" dirty="0">
                <a:solidFill>
                  <a:srgbClr val="333333"/>
                </a:solidFill>
                <a:latin typeface="Noto Sans KR"/>
                <a:ea typeface="Noto Sans KR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Noto Sans KR"/>
                <a:ea typeface="Noto Sans KR"/>
              </a:rPr>
              <a:t>에이전트</a:t>
            </a:r>
            <a:endParaRPr lang="en-US" sz="1500" dirty="0">
              <a:solidFill>
                <a:srgbClr val="333333"/>
              </a:solidFill>
              <a:latin typeface="Noto Sans KR"/>
              <a:ea typeface="Noto Sans KR"/>
            </a:endParaRPr>
          </a:p>
          <a:p>
            <a:pPr>
              <a:lnSpc>
                <a:spcPts val="2000"/>
              </a:lnSpc>
            </a:pPr>
            <a:r>
              <a:rPr lang="en-US" sz="1600" dirty="0">
                <a:hlinkClick r:id="rId3"/>
              </a:rPr>
              <a:t>https://chatgpt.com/codex</a:t>
            </a:r>
            <a:endParaRPr lang="en-US" sz="1600" dirty="0"/>
          </a:p>
          <a:p>
            <a:pPr>
              <a:lnSpc>
                <a:spcPts val="2000"/>
              </a:lnSpc>
            </a:pPr>
            <a:endParaRPr lang="en-US" sz="1500" dirty="0">
              <a:solidFill>
                <a:srgbClr val="333333"/>
              </a:solidFill>
              <a:latin typeface="Noto Sans KR"/>
              <a:ea typeface="Noto Sans KR"/>
            </a:endParaRPr>
          </a:p>
        </p:txBody>
      </p:sp>
      <p:sp>
        <p:nvSpPr>
          <p:cNvPr id="303" name="card303"/>
          <p:cNvSpPr/>
          <p:nvPr/>
        </p:nvSpPr>
        <p:spPr>
          <a:xfrm>
            <a:off x="7996767" y="4065448"/>
            <a:ext cx="3191933" cy="1905000"/>
          </a:xfrm>
          <a:prstGeom prst="roundRect">
            <a:avLst>
              <a:gd name="adj" fmla="val 6000"/>
            </a:avLst>
          </a:prstGeom>
          <a:solidFill>
            <a:srgbClr val="FBEFD6"/>
          </a:solidFill>
          <a:ln w="12700">
            <a:solidFill>
              <a:srgbClr val="E6C98A"/>
            </a:solidFill>
          </a:ln>
        </p:spPr>
        <p:txBody>
          <a:bodyPr lIns="137160" tIns="109728" rIns="91440" bIns="91440" anchor="t"/>
          <a:lstStyle/>
          <a:p>
            <a:pPr>
              <a:spcAft>
                <a:spcPts val="400"/>
              </a:spcAft>
            </a:pPr>
            <a:r>
              <a:rPr lang="en-US" sz="2200" b="1" dirty="0">
                <a:solidFill>
                  <a:srgbClr val="8A5A12"/>
                </a:solidFill>
                <a:latin typeface="Noto Sans KR"/>
                <a:ea typeface="Noto Sans KR"/>
              </a:rPr>
              <a:t>Custom Agents</a:t>
            </a:r>
          </a:p>
          <a:p>
            <a:pPr>
              <a:lnSpc>
                <a:spcPts val="2000"/>
              </a:lnSpc>
            </a:pPr>
            <a:r>
              <a:rPr lang="en-US" sz="1500" dirty="0">
                <a:solidFill>
                  <a:srgbClr val="333333"/>
                </a:solidFill>
                <a:latin typeface="Noto Sans KR"/>
                <a:ea typeface="Noto Sans KR"/>
              </a:rPr>
              <a:t>LLM + agent harness </a:t>
            </a:r>
            <a:r>
              <a:rPr lang="en-US" sz="1500" dirty="0" err="1">
                <a:solidFill>
                  <a:srgbClr val="333333"/>
                </a:solidFill>
                <a:latin typeface="Noto Sans KR"/>
                <a:ea typeface="Noto Sans KR"/>
              </a:rPr>
              <a:t>직접</a:t>
            </a:r>
            <a:r>
              <a:rPr lang="en-US" sz="1500" dirty="0">
                <a:solidFill>
                  <a:srgbClr val="333333"/>
                </a:solidFill>
                <a:latin typeface="Noto Sans KR"/>
                <a:ea typeface="Noto Sans KR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Noto Sans KR"/>
                <a:ea typeface="Noto Sans KR"/>
              </a:rPr>
              <a:t>구현</a:t>
            </a:r>
            <a:r>
              <a:rPr lang="en-US" sz="1500" dirty="0">
                <a:solidFill>
                  <a:srgbClr val="333333"/>
                </a:solidFill>
                <a:latin typeface="Noto Sans KR"/>
                <a:ea typeface="Noto Sans KR"/>
              </a:rPr>
              <a:t> </a:t>
            </a:r>
            <a:br>
              <a:rPr lang="en-US" sz="1500" dirty="0">
                <a:solidFill>
                  <a:srgbClr val="333333"/>
                </a:solidFill>
                <a:latin typeface="Noto Sans KR"/>
                <a:ea typeface="Noto Sans KR"/>
              </a:rPr>
            </a:br>
            <a:r>
              <a:rPr lang="en-US" sz="1500" dirty="0">
                <a:solidFill>
                  <a:srgbClr val="333333"/>
                </a:solidFill>
                <a:latin typeface="Noto Sans KR"/>
                <a:ea typeface="Noto Sans KR"/>
              </a:rPr>
              <a:t>(</a:t>
            </a:r>
            <a:r>
              <a:rPr lang="en-US" sz="1500" dirty="0" err="1">
                <a:solidFill>
                  <a:srgbClr val="333333"/>
                </a:solidFill>
                <a:latin typeface="Noto Sans KR"/>
                <a:ea typeface="Noto Sans KR"/>
              </a:rPr>
              <a:t>오픈소스</a:t>
            </a:r>
            <a:r>
              <a:rPr lang="en-US" sz="1500" dirty="0">
                <a:solidFill>
                  <a:srgbClr val="333333"/>
                </a:solidFill>
                <a:latin typeface="Noto Sans KR"/>
                <a:ea typeface="Noto Sans KR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Noto Sans KR"/>
                <a:ea typeface="Noto Sans KR"/>
              </a:rPr>
              <a:t>예시</a:t>
            </a:r>
            <a:r>
              <a:rPr lang="en-US" altLang="ko-KR" sz="1500" dirty="0">
                <a:solidFill>
                  <a:srgbClr val="333333"/>
                </a:solidFill>
                <a:latin typeface="Noto Sans KR"/>
                <a:ea typeface="Noto Sans KR"/>
              </a:rPr>
              <a:t>: </a:t>
            </a:r>
            <a:r>
              <a:rPr lang="en-US" sz="1500" dirty="0">
                <a:solidFill>
                  <a:srgbClr val="333333"/>
                </a:solidFill>
                <a:latin typeface="Noto Sans KR"/>
                <a:ea typeface="Noto Sans KR"/>
              </a:rPr>
              <a:t>pi, opencode 등)</a:t>
            </a:r>
          </a:p>
        </p:txBody>
      </p:sp>
    </p:spTree>
    <p:extLst>
      <p:ext uri="{BB962C8B-B14F-4D97-AF65-F5344CB8AC3E}">
        <p14:creationId xmlns:p14="http://schemas.microsoft.com/office/powerpoint/2010/main" val="286284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2382670" y="3913949"/>
            <a:ext cx="3383280" cy="2468880"/>
          </a:xfrm>
          <a:prstGeom prst="roundRect">
            <a:avLst>
              <a:gd name="adj" fmla="val 5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83838" y="4078540"/>
            <a:ext cx="3017520" cy="212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KR" sz="1400" b="1" dirty="0">
                <a:solidFill>
                  <a:srgbClr val="1E6FD9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목표</a:t>
            </a:r>
            <a:endParaRPr sz="1400" b="1" dirty="0">
              <a:solidFill>
                <a:srgbClr val="1E6FD9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83838" y="4480877"/>
            <a:ext cx="3017520" cy="601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dirty="0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“</a:t>
            </a:r>
            <a:r>
              <a:rPr sz="1700" b="0" dirty="0" err="1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중력</a:t>
            </a:r>
            <a:r>
              <a:rPr sz="1700" b="0" dirty="0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sz="1700" b="0" dirty="0" err="1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법칙</a:t>
            </a:r>
            <a:r>
              <a:rPr sz="1700" b="0" dirty="0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sz="1700" b="0" dirty="0" err="1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설명용</a:t>
            </a:r>
            <a:r>
              <a:rPr sz="1700" b="0" dirty="0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sz="1700" b="0" dirty="0" err="1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행성</a:t>
            </a:r>
            <a:r>
              <a:rPr sz="1700" b="0" dirty="0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sz="1700" b="0" dirty="0" err="1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궤도</a:t>
            </a:r>
            <a:r>
              <a:rPr sz="1700" b="0" dirty="0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sz="1700" b="0" dirty="0" err="1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시뮬레이션을</a:t>
            </a:r>
            <a:r>
              <a:rPr sz="1700" b="0" dirty="0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sz="1700" b="0" dirty="0" err="1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웹페이지로</a:t>
            </a:r>
            <a:r>
              <a:rPr sz="1700" b="0" dirty="0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sz="1700" b="0" dirty="0" err="1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만들어줘</a:t>
            </a:r>
            <a:r>
              <a:rPr sz="1700" b="0" dirty="0">
                <a:solidFill>
                  <a:srgbClr val="2B2F3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7390" y="5148389"/>
            <a:ext cx="731520" cy="0"/>
          </a:xfrm>
          <a:prstGeom prst="line">
            <a:avLst/>
          </a:prstGeom>
          <a:ln w="25400" cap="flat" cmpd="sng" algn="ctr">
            <a:solidFill>
              <a:srgbClr val="0F6FC6"/>
            </a:solidFill>
            <a:prstDash val="solid"/>
            <a:miter lim="800000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26070" y="3913949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0F6FC6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2E5B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① 물리 계산 코드 작성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225686" y="4444301"/>
            <a:ext cx="292608" cy="146304"/>
          </a:xfrm>
          <a:prstGeom prst="downArrow">
            <a:avLst/>
          </a:prstGeom>
          <a:solidFill>
            <a:srgbClr val="0F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26070" y="4572317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0F6FC6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2E5B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② HTML/JavaScript 작성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225686" y="5102669"/>
            <a:ext cx="292608" cy="146304"/>
          </a:xfrm>
          <a:prstGeom prst="downArrow">
            <a:avLst/>
          </a:prstGeom>
          <a:solidFill>
            <a:srgbClr val="0F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6070" y="5230685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0F6FC6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2E5B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③ 화면 렌더링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225686" y="5761037"/>
            <a:ext cx="292608" cy="146304"/>
          </a:xfrm>
          <a:prstGeom prst="downArrow">
            <a:avLst/>
          </a:prstGeom>
          <a:solidFill>
            <a:srgbClr val="0F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26070" y="5889053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0F6FC6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2E5B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④ 동작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0350" y="3540952"/>
            <a:ext cx="3383280" cy="273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b="1" dirty="0" err="1">
                <a:solidFill>
                  <a:schemeClr val="tx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에이전트의</a:t>
            </a:r>
            <a:r>
              <a:rPr b="1" dirty="0">
                <a:solidFill>
                  <a:schemeClr val="tx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b="1" dirty="0" err="1">
                <a:solidFill>
                  <a:schemeClr val="tx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자율</a:t>
            </a:r>
            <a:r>
              <a:rPr b="1" dirty="0">
                <a:solidFill>
                  <a:schemeClr val="tx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b="1" dirty="0" err="1">
                <a:solidFill>
                  <a:schemeClr val="tx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실행</a:t>
            </a:r>
            <a:r>
              <a:rPr b="1" dirty="0">
                <a:solidFill>
                  <a:schemeClr val="tx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b="1" dirty="0" err="1">
                <a:solidFill>
                  <a:schemeClr val="tx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구간</a:t>
            </a:r>
            <a:endParaRPr b="1" dirty="0">
              <a:solidFill>
                <a:schemeClr val="tx2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8DF52-4C84-4868-0727-0163D883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KR" dirty="0"/>
              <a:t>Live D</a:t>
            </a:r>
            <a:r>
              <a:rPr lang="en-US" dirty="0"/>
              <a:t>e</a:t>
            </a:r>
            <a:r>
              <a:rPr lang="en-KR" dirty="0"/>
              <a:t>mo: vibe coding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4BED0-C634-77C9-0651-8E8CDADF8011}"/>
              </a:ext>
            </a:extLst>
          </p:cNvPr>
          <p:cNvSpPr txBox="1"/>
          <p:nvPr/>
        </p:nvSpPr>
        <p:spPr>
          <a:xfrm>
            <a:off x="1010435" y="1488554"/>
            <a:ext cx="10095412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4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Vibe coding</a:t>
            </a:r>
            <a:r>
              <a:rPr lang="ko-KR" altLang="en-US" sz="2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lang="en-US" altLang="ko-KR" sz="2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: </a:t>
            </a:r>
            <a:r>
              <a:rPr lang="ko-KR" altLang="en-US" sz="2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코드를 직접 들여다보지 않고, 자연어 명령만으로 프로그램을 만드는 방식 </a:t>
            </a:r>
            <a:r>
              <a:rPr lang="en-US" altLang="ko-KR" sz="2400" dirty="0">
                <a:latin typeface="Noto Sans KR" panose="020B0200000000000000" pitchFamily="34" charset="-128"/>
                <a:ea typeface="Noto Sans KR" panose="020B0200000000000000" pitchFamily="34" charset="-128"/>
                <a:sym typeface="Wingdings" pitchFamily="2" charset="2"/>
              </a:rPr>
              <a:t> </a:t>
            </a:r>
            <a:r>
              <a:rPr lang="en-US" altLang="ko-KR" sz="2400" b="1" dirty="0">
                <a:solidFill>
                  <a:srgbClr val="FF0000"/>
                </a:solidFill>
                <a:latin typeface="Noto Sans KR" panose="020B0200000000000000" pitchFamily="34" charset="-128"/>
                <a:ea typeface="Noto Sans KR" panose="020B0200000000000000" pitchFamily="34" charset="-128"/>
                <a:sym typeface="Wingdings" pitchFamily="2" charset="2"/>
              </a:rPr>
              <a:t>“</a:t>
            </a:r>
            <a:r>
              <a:rPr lang="ko-KR" altLang="en-US" sz="2400" b="1" dirty="0">
                <a:solidFill>
                  <a:srgbClr val="FF0000"/>
                </a:solidFill>
                <a:latin typeface="Noto Sans KR" panose="020B0200000000000000" pitchFamily="34" charset="-128"/>
                <a:ea typeface="Noto Sans KR" panose="020B0200000000000000" pitchFamily="34" charset="-128"/>
                <a:sym typeface="Wingdings" pitchFamily="2" charset="2"/>
              </a:rPr>
              <a:t>너가 알아서 다 해줘</a:t>
            </a:r>
            <a:r>
              <a:rPr lang="en-US" altLang="ko-KR" sz="2400" b="1" dirty="0">
                <a:solidFill>
                  <a:srgbClr val="FF0000"/>
                </a:solidFill>
                <a:latin typeface="Noto Sans KR" panose="020B0200000000000000" pitchFamily="34" charset="-128"/>
                <a:ea typeface="Noto Sans KR" panose="020B0200000000000000" pitchFamily="34" charset="-128"/>
                <a:sym typeface="Wingdings" pitchFamily="2" charset="2"/>
              </a:rPr>
              <a:t>”</a:t>
            </a:r>
            <a:endParaRPr lang="ko-KR" altLang="en-US" sz="2400" b="1" dirty="0">
              <a:solidFill>
                <a:srgbClr val="FF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2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복잡한 프로젝트에는 비효율적이지만, </a:t>
            </a:r>
            <a:r>
              <a:rPr lang="ko-KR" altLang="en-US" sz="24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코딩을 몰라도</a:t>
            </a:r>
            <a:r>
              <a:rPr lang="ko-KR" altLang="en-US" sz="24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 간단한 프로그램을 빠르게 만들 수 있어 유용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CCFC44-B5B2-176C-3ED2-41E546877D87}"/>
              </a:ext>
            </a:extLst>
          </p:cNvPr>
          <p:cNvSpPr txBox="1"/>
          <p:nvPr/>
        </p:nvSpPr>
        <p:spPr>
          <a:xfrm>
            <a:off x="1465785" y="3312843"/>
            <a:ext cx="3717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예시</a:t>
            </a:r>
            <a:r>
              <a:rPr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: </a:t>
            </a:r>
            <a:r>
              <a:rPr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물리</a:t>
            </a:r>
            <a:r>
              <a:rPr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인터랙티브 웹 시뮬레이션 </a:t>
            </a:r>
            <a:endParaRPr lang="en-KR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954" name="Slide Number Placeholder">
            <a:extLst>
              <a:ext uri="{FF2B5EF4-FFF2-40B4-BE49-F238E27FC236}">
                <a16:creationId xmlns:a16="http://schemas.microsoft.com/office/drawing/2014/main" id="{DCCC5BB5-8463-C657-EA35-37A721FD93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88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9CF24-C7A1-D0C4-72F3-2621BE9E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3E995-FFE8-C070-7406-67672C11D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AI Coding Agents for everyday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22184-D625-FF34-A76F-9EE61F25E0C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2A5F1-C6B4-F8E1-920E-73A25F87F8C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EBA9D-69A9-8EA5-5508-CDE4DF7565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254B2-4472-676E-0110-D959127D01CA}"/>
              </a:ext>
            </a:extLst>
          </p:cNvPr>
          <p:cNvSpPr txBox="1"/>
          <p:nvPr/>
        </p:nvSpPr>
        <p:spPr>
          <a:xfrm>
            <a:off x="1052760" y="5885899"/>
            <a:ext cx="672652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Noto Sans KR"/>
                <a:ea typeface="Noto Sans KR"/>
              </a:rPr>
              <a:t>출처: https://openai.com/academy/how-to-use-codex-for-everyday-work/</a:t>
            </a:r>
          </a:p>
        </p:txBody>
      </p:sp>
      <p:sp>
        <p:nvSpPr>
          <p:cNvPr id="3" name="frameLine">
            <a:extLst>
              <a:ext uri="{FF2B5EF4-FFF2-40B4-BE49-F238E27FC236}">
                <a16:creationId xmlns:a16="http://schemas.microsoft.com/office/drawing/2014/main" id="{00C4BE02-D5F2-494C-A40B-CE68285B5A2E}"/>
              </a:ext>
            </a:extLst>
          </p:cNvPr>
          <p:cNvSpPr txBox="1"/>
          <p:nvPr/>
        </p:nvSpPr>
        <p:spPr>
          <a:xfrm>
            <a:off x="1054100" y="1346200"/>
            <a:ext cx="10083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dirty="0">
                <a:solidFill>
                  <a:srgbClr val="333333"/>
                </a:solidFill>
                <a:latin typeface="Noto Sans KR"/>
                <a:ea typeface="Noto Sans KR"/>
              </a:rPr>
              <a:t>이미 쓰는 맥락</a:t>
            </a:r>
            <a:r>
              <a:rPr lang="en-US" altLang="ko-KR" sz="1700" dirty="0">
                <a:solidFill>
                  <a:srgbClr val="333333"/>
                </a:solidFill>
                <a:latin typeface="Noto Sans KR"/>
                <a:ea typeface="Noto Sans KR"/>
              </a:rPr>
              <a:t>(</a:t>
            </a:r>
            <a:r>
              <a:rPr lang="ko-KR" altLang="en-US" sz="1700" dirty="0">
                <a:solidFill>
                  <a:srgbClr val="333333"/>
                </a:solidFill>
                <a:latin typeface="Noto Sans KR"/>
                <a:ea typeface="Noto Sans KR"/>
              </a:rPr>
              <a:t>메일</a:t>
            </a:r>
            <a:r>
              <a:rPr lang="en-US" altLang="ko-KR" sz="1700" dirty="0">
                <a:solidFill>
                  <a:srgbClr val="333333"/>
                </a:solidFill>
                <a:latin typeface="Noto Sans KR"/>
                <a:ea typeface="Noto Sans KR"/>
              </a:rPr>
              <a:t>·</a:t>
            </a:r>
            <a:r>
              <a:rPr lang="ko-KR" altLang="en-US" sz="1700" dirty="0">
                <a:solidFill>
                  <a:srgbClr val="333333"/>
                </a:solidFill>
                <a:latin typeface="Noto Sans KR"/>
                <a:ea typeface="Noto Sans KR"/>
              </a:rPr>
              <a:t>문서</a:t>
            </a:r>
            <a:r>
              <a:rPr lang="en-US" altLang="ko-KR" sz="1700" dirty="0">
                <a:solidFill>
                  <a:srgbClr val="333333"/>
                </a:solidFill>
                <a:latin typeface="Noto Sans KR"/>
                <a:ea typeface="Noto Sans KR"/>
              </a:rPr>
              <a:t>·</a:t>
            </a:r>
            <a:r>
              <a:rPr lang="ko-KR" altLang="en-US" sz="1700" dirty="0">
                <a:solidFill>
                  <a:srgbClr val="333333"/>
                </a:solidFill>
                <a:latin typeface="Noto Sans KR"/>
                <a:ea typeface="Noto Sans KR"/>
              </a:rPr>
              <a:t>일정</a:t>
            </a:r>
            <a:r>
              <a:rPr lang="en-US" altLang="ko-KR" sz="1700" dirty="0">
                <a:solidFill>
                  <a:srgbClr val="333333"/>
                </a:solidFill>
                <a:latin typeface="Noto Sans KR"/>
                <a:ea typeface="Noto Sans KR"/>
              </a:rPr>
              <a:t>·</a:t>
            </a:r>
            <a:r>
              <a:rPr lang="ko-KR" altLang="en-US" sz="1700" dirty="0">
                <a:solidFill>
                  <a:srgbClr val="333333"/>
                </a:solidFill>
                <a:latin typeface="Noto Sans KR"/>
                <a:ea typeface="Noto Sans KR"/>
              </a:rPr>
              <a:t>메시지</a:t>
            </a:r>
            <a:r>
              <a:rPr lang="en-US" altLang="ko-KR" sz="1700" dirty="0">
                <a:solidFill>
                  <a:srgbClr val="333333"/>
                </a:solidFill>
                <a:latin typeface="Noto Sans KR"/>
                <a:ea typeface="Noto Sans KR"/>
              </a:rPr>
              <a:t>)</a:t>
            </a:r>
            <a:r>
              <a:rPr lang="ko-KR" altLang="en-US" sz="1700" dirty="0">
                <a:solidFill>
                  <a:srgbClr val="333333"/>
                </a:solidFill>
                <a:latin typeface="Noto Sans KR"/>
                <a:ea typeface="Noto Sans KR"/>
              </a:rPr>
              <a:t>을 그대로 넘기면 바로 검토할 수 있는 산출물을 만들어 준다</a:t>
            </a:r>
            <a:r>
              <a:rPr lang="en-US" altLang="ko-KR" sz="1700" dirty="0">
                <a:solidFill>
                  <a:srgbClr val="333333"/>
                </a:solidFill>
                <a:latin typeface="Noto Sans KR"/>
                <a:ea typeface="Noto Sans KR"/>
              </a:rPr>
              <a:t>.</a:t>
            </a:r>
          </a:p>
          <a:p>
            <a:pPr algn="ctr"/>
            <a:r>
              <a:rPr lang="ko-KR" altLang="en-US" sz="1700" b="1" dirty="0">
                <a:solidFill>
                  <a:srgbClr val="FF0000"/>
                </a:solidFill>
                <a:latin typeface="Noto Sans KR"/>
                <a:ea typeface="Noto Sans KR"/>
              </a:rPr>
              <a:t>맥락</a:t>
            </a:r>
            <a:r>
              <a:rPr lang="en-US" altLang="ko-KR" sz="1700" b="1" dirty="0">
                <a:solidFill>
                  <a:srgbClr val="FF0000"/>
                </a:solidFill>
                <a:latin typeface="Noto Sans KR"/>
                <a:ea typeface="Noto Sans KR"/>
              </a:rPr>
              <a:t>(Context) </a:t>
            </a:r>
            <a:r>
              <a:rPr lang="ko-KR" altLang="en-US" sz="1700" b="1" dirty="0">
                <a:solidFill>
                  <a:srgbClr val="FF0000"/>
                </a:solidFill>
                <a:latin typeface="Noto Sans KR"/>
                <a:ea typeface="Noto Sans KR"/>
              </a:rPr>
              <a:t>제공 → 초안 생성 → 검토 → 다듬기의 반복</a:t>
            </a:r>
            <a:endParaRPr lang="en-KR" sz="1700" b="1" dirty="0">
              <a:solidFill>
                <a:srgbClr val="FF0000"/>
              </a:solidFill>
              <a:latin typeface="Noto Sans KR"/>
              <a:ea typeface="Noto Sans KR"/>
            </a:endParaRPr>
          </a:p>
        </p:txBody>
      </p:sp>
      <p:graphicFrame>
        <p:nvGraphicFramePr>
          <p:cNvPr id="10" name="Table 6b">
            <a:extLst>
              <a:ext uri="{FF2B5EF4-FFF2-40B4-BE49-F238E27FC236}">
                <a16:creationId xmlns:a16="http://schemas.microsoft.com/office/drawing/2014/main" id="{B0344FBF-2316-3348-AD5E-9194A46DE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691385"/>
              </p:ext>
            </p:extLst>
          </p:nvPr>
        </p:nvGraphicFramePr>
        <p:xfrm>
          <a:off x="1052760" y="2123855"/>
          <a:ext cx="10083800" cy="3666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219407314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012731892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357347147"/>
                    </a:ext>
                  </a:extLst>
                </a:gridCol>
              </a:tblGrid>
              <a:tr h="611143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영역</a:t>
                      </a:r>
                    </a:p>
                  </a:txBody>
                  <a:tcPr anchor="ctr">
                    <a:solidFill>
                      <a:srgbClr val="1740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입력 (이미 가진 맥락)</a:t>
                      </a:r>
                    </a:p>
                  </a:txBody>
                  <a:tcPr anchor="ctr">
                    <a:solidFill>
                      <a:srgbClr val="1740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Agent가</a:t>
                      </a: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 만드는 산출물</a:t>
                      </a:r>
                    </a:p>
                  </a:txBody>
                  <a:tcPr anchor="ctr">
                    <a:solidFill>
                      <a:srgbClr val="1740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149271"/>
                  </a:ext>
                </a:extLst>
              </a:tr>
              <a:tr h="611143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7406D"/>
                          </a:solidFill>
                          <a:latin typeface="Noto Sans KR"/>
                          <a:ea typeface="Noto Sans KR"/>
                        </a:rPr>
                        <a:t>주간 업데이트</a:t>
                      </a:r>
                    </a:p>
                  </a:txBody>
                  <a:tcPr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이번 주 회의·문서·메시지·트래커</a:t>
                      </a:r>
                    </a:p>
                  </a:txBody>
                  <a:tcPr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근거 링크가 달린 매니저용 주간 요약</a:t>
                      </a:r>
                    </a:p>
                  </a:txBody>
                  <a:tcPr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711211"/>
                  </a:ext>
                </a:extLst>
              </a:tr>
              <a:tr h="611143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7406D"/>
                          </a:solidFill>
                          <a:latin typeface="Noto Sans KR"/>
                          <a:ea typeface="Noto Sans KR"/>
                        </a:rPr>
                        <a:t>의사결정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내부 자료 + 웹 리서치, 예산 제약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추천·트레이드오프·리스크·출처가 담긴 1쪽 메모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428987"/>
                  </a:ext>
                </a:extLst>
              </a:tr>
              <a:tr h="611143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7406D"/>
                          </a:solidFill>
                          <a:latin typeface="Noto Sans KR"/>
                          <a:ea typeface="Noto Sans KR"/>
                        </a:rPr>
                        <a:t>데이터 정리</a:t>
                      </a:r>
                    </a:p>
                  </a:txBody>
                  <a:tcPr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여러 소스 파일, 매핑 규칙</a:t>
                      </a:r>
                    </a:p>
                  </a:txBody>
                  <a:tcPr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중복 제거된 워크북 + Needs-Review 탭·변경 로그</a:t>
                      </a:r>
                    </a:p>
                  </a:txBody>
                  <a:tcPr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474939"/>
                  </a:ext>
                </a:extLst>
              </a:tr>
              <a:tr h="611143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7406D"/>
                          </a:solidFill>
                          <a:latin typeface="Noto Sans KR"/>
                          <a:ea typeface="Noto Sans KR"/>
                        </a:rPr>
                        <a:t>일일 브리핑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캘린더·읽지 않은 메일·멘션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오늘의 우선순위·회의 준비·답장 목록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849072"/>
                  </a:ext>
                </a:extLst>
              </a:tr>
              <a:tr h="611143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7406D"/>
                          </a:solidFill>
                          <a:latin typeface="Noto Sans KR"/>
                          <a:ea typeface="Noto Sans KR"/>
                        </a:rPr>
                        <a:t>분석/대시보드</a:t>
                      </a:r>
                    </a:p>
                  </a:txBody>
                  <a:tcPr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대시보드·지표 정의·실험 노트</a:t>
                      </a:r>
                    </a:p>
                  </a:txBody>
                  <a:tcPr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차트·주의사항·추천이 담긴 KPI 리드아웃</a:t>
                      </a:r>
                    </a:p>
                  </a:txBody>
                  <a:tcPr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3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47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B7A02-0401-8181-056D-A386CA13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45BA-06E4-1532-E7A3-6D7A8ED7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Live Demo</a:t>
            </a:r>
            <a:r>
              <a:rPr lang="en-US" altLang="ko-KR" dirty="0"/>
              <a:t>: </a:t>
            </a:r>
            <a:r>
              <a:rPr lang="ko-KR" altLang="en-US" dirty="0"/>
              <a:t>내 구글 드라이브 파일 분석</a:t>
            </a:r>
            <a:endParaRPr lang="en-K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C88A6-9715-9E84-C4A3-1CE35259899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B4E84-2568-F4EE-C886-43F70553D6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34DFB-CBED-6E76-D81A-BE9C038352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promptLine">
            <a:extLst>
              <a:ext uri="{FF2B5EF4-FFF2-40B4-BE49-F238E27FC236}">
                <a16:creationId xmlns:a16="http://schemas.microsoft.com/office/drawing/2014/main" id="{9F763587-79A7-5440-B7C8-84CE66874D06}"/>
              </a:ext>
            </a:extLst>
          </p:cNvPr>
          <p:cNvSpPr txBox="1"/>
          <p:nvPr/>
        </p:nvSpPr>
        <p:spPr>
          <a:xfrm>
            <a:off x="1054100" y="1476775"/>
            <a:ext cx="100838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dirty="0">
                <a:solidFill>
                  <a:srgbClr val="333333"/>
                </a:solidFill>
                <a:latin typeface="Noto Sans KR"/>
                <a:ea typeface="Noto Sans KR"/>
              </a:rPr>
              <a:t>“내 드라이브에서 </a:t>
            </a:r>
            <a:r>
              <a:rPr lang="en-US" altLang="ko-KR" sz="1600" dirty="0">
                <a:solidFill>
                  <a:srgbClr val="333333"/>
                </a:solidFill>
                <a:latin typeface="Noto Sans KR"/>
                <a:ea typeface="Noto Sans KR"/>
              </a:rPr>
              <a:t>2025</a:t>
            </a:r>
            <a:r>
              <a:rPr lang="ko-KR" altLang="en-US" sz="1600" dirty="0">
                <a:solidFill>
                  <a:srgbClr val="333333"/>
                </a:solidFill>
                <a:latin typeface="Noto Sans KR"/>
                <a:ea typeface="Noto Sans KR"/>
              </a:rPr>
              <a:t>년에 진행한 행사들을 찾아 목록으로 정리해줘” → 에이전트가 파일을 참고해서 결과물 산출</a:t>
            </a:r>
            <a:endParaRPr lang="en-KR" sz="1600" dirty="0">
              <a:solidFill>
                <a:srgbClr val="333333"/>
              </a:solidFill>
              <a:latin typeface="Noto Sans KR"/>
              <a:ea typeface="Noto Sans KR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74E8FA-ECDA-BE24-B1C4-DDAD2C06F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65" y="2237053"/>
            <a:ext cx="4046370" cy="33845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64C4F5-09F2-44D5-10A6-B1346D8FA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81234"/>
            <a:ext cx="4757065" cy="229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60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B91F5-E583-9503-1E56-B0F7C9EC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600" dirty="0"/>
              <a:t>Working with Agents: </a:t>
            </a:r>
            <a:r>
              <a:rPr lang="ko-KR" altLang="en-US" sz="3600" dirty="0"/>
              <a:t>탐색</a:t>
            </a:r>
            <a:r>
              <a:rPr lang="en-US" altLang="ko-KR" sz="3600" dirty="0"/>
              <a:t>-</a:t>
            </a:r>
            <a:r>
              <a:rPr lang="ko-KR" altLang="en-US" sz="3600" dirty="0"/>
              <a:t>계획</a:t>
            </a:r>
            <a:r>
              <a:rPr lang="en-US" altLang="ko-KR" sz="3600" dirty="0"/>
              <a:t>-</a:t>
            </a:r>
            <a:r>
              <a:rPr lang="ko-KR" altLang="en-US" sz="3600" dirty="0"/>
              <a:t>실행</a:t>
            </a:r>
            <a:r>
              <a:rPr lang="en-US" altLang="ko-KR" sz="3600" dirty="0"/>
              <a:t>-</a:t>
            </a:r>
            <a:r>
              <a:rPr lang="ko-KR" altLang="en-US" sz="3600" dirty="0"/>
              <a:t>검증</a:t>
            </a:r>
            <a:r>
              <a:rPr lang="en-US" altLang="ko-KR" sz="3600" dirty="0"/>
              <a:t> </a:t>
            </a:r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C7F14-EECA-9118-616E-3993B9BFF02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226A-A7E0-6461-1575-80A9B77212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7CD46-217B-3048-5ACD-8E81DF954E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BAB22C3-EEB7-E1AE-2B77-899D26A7D8A3}"/>
              </a:ext>
            </a:extLst>
          </p:cNvPr>
          <p:cNvSpPr/>
          <p:nvPr/>
        </p:nvSpPr>
        <p:spPr>
          <a:xfrm>
            <a:off x="784011" y="1846675"/>
            <a:ext cx="2395728" cy="384048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 err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사람</a:t>
            </a:r>
            <a:r>
              <a:rPr sz="1600" b="1" dirty="0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+ </a:t>
            </a:r>
            <a:r>
              <a:rPr sz="1600" b="1" dirty="0" err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에이전트</a:t>
            </a:r>
            <a:endParaRPr sz="1600" b="1" dirty="0">
              <a:solidFill>
                <a:sysClr val="windowText" lastClr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3F2AE08-BEE6-B465-4D24-14D755A96DC9}"/>
              </a:ext>
            </a:extLst>
          </p:cNvPr>
          <p:cNvSpPr/>
          <p:nvPr/>
        </p:nvSpPr>
        <p:spPr>
          <a:xfrm>
            <a:off x="784011" y="2303875"/>
            <a:ext cx="2395728" cy="2489200"/>
          </a:xfrm>
          <a:prstGeom prst="roundRect">
            <a:avLst>
              <a:gd name="adj" fmla="val 7000"/>
            </a:avLst>
          </a:prstGeom>
          <a:noFill/>
          <a:ln w="12700" cap="flat" cmpd="sng" algn="ctr">
            <a:solidFill>
              <a:srgbClr val="17406D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 anchorCtr="0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Explore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탐색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자료·맥락·현황 파악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727EC79-EF91-7B33-5DF0-79AF7C0F57EC}"/>
              </a:ext>
            </a:extLst>
          </p:cNvPr>
          <p:cNvSpPr/>
          <p:nvPr/>
        </p:nvSpPr>
        <p:spPr>
          <a:xfrm>
            <a:off x="3499779" y="1846675"/>
            <a:ext cx="2395728" cy="384048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lang="ko-KR" altLang="en-US" sz="1600" b="1" dirty="0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사람이 함께 합의</a:t>
            </a:r>
            <a:endParaRPr sz="1600" b="1" dirty="0">
              <a:solidFill>
                <a:sysClr val="windowText" lastClr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AC0A903-47FA-4211-2117-DFAF95040F9C}"/>
              </a:ext>
            </a:extLst>
          </p:cNvPr>
          <p:cNvSpPr/>
          <p:nvPr/>
        </p:nvSpPr>
        <p:spPr>
          <a:xfrm>
            <a:off x="3499779" y="2303875"/>
            <a:ext cx="2395728" cy="2489200"/>
          </a:xfrm>
          <a:prstGeom prst="roundRect">
            <a:avLst>
              <a:gd name="adj" fmla="val 7000"/>
            </a:avLst>
          </a:prstGeom>
          <a:noFill/>
          <a:ln w="19050" cap="flat" cmpd="sng" algn="ctr">
            <a:solidFill>
              <a:srgbClr val="10CF9B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 anchorCtr="0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Plan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계획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단계를 설계·합의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91D2CE6-476E-CE46-9FE7-980E30B35BF5}"/>
              </a:ext>
            </a:extLst>
          </p:cNvPr>
          <p:cNvSpPr/>
          <p:nvPr/>
        </p:nvSpPr>
        <p:spPr>
          <a:xfrm>
            <a:off x="6215547" y="1846675"/>
            <a:ext cx="2395728" cy="384048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에이전트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C3E9B2E-D91C-772A-474B-252E46C9F330}"/>
              </a:ext>
            </a:extLst>
          </p:cNvPr>
          <p:cNvSpPr/>
          <p:nvPr/>
        </p:nvSpPr>
        <p:spPr>
          <a:xfrm>
            <a:off x="6215547" y="2303875"/>
            <a:ext cx="2395728" cy="2489200"/>
          </a:xfrm>
          <a:prstGeom prst="roundRect">
            <a:avLst>
              <a:gd name="adj" fmla="val 7000"/>
            </a:avLst>
          </a:prstGeom>
          <a:noFill/>
          <a:ln w="12700" cap="flat" cmpd="sng" algn="ctr">
            <a:solidFill>
              <a:srgbClr val="0F6FC6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 anchorCtr="0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dirty="0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Execute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dirty="0" err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실행</a:t>
            </a:r>
            <a:endParaRPr sz="2000" b="1" dirty="0">
              <a:solidFill>
                <a:sysClr val="windowText" lastClr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dirty="0" err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코드·문서·반복작업</a:t>
            </a:r>
            <a:r>
              <a:rPr sz="1400" b="0" dirty="0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sz="1400" b="0" dirty="0" err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수행</a:t>
            </a:r>
            <a:endParaRPr sz="1400" b="0" dirty="0">
              <a:solidFill>
                <a:sysClr val="windowText" lastClr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44B0287-5DD7-4DA9-17C5-3DDEF1E9746A}"/>
              </a:ext>
            </a:extLst>
          </p:cNvPr>
          <p:cNvSpPr/>
          <p:nvPr/>
        </p:nvSpPr>
        <p:spPr>
          <a:xfrm>
            <a:off x="8931315" y="1846675"/>
            <a:ext cx="2395728" cy="384048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사람이 책임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B02A167-961D-82C3-D95F-3F98533CA9CB}"/>
              </a:ext>
            </a:extLst>
          </p:cNvPr>
          <p:cNvSpPr/>
          <p:nvPr/>
        </p:nvSpPr>
        <p:spPr>
          <a:xfrm>
            <a:off x="8931315" y="2303875"/>
            <a:ext cx="2395728" cy="2489200"/>
          </a:xfrm>
          <a:prstGeom prst="roundRect">
            <a:avLst>
              <a:gd name="adj" fmla="val 7000"/>
            </a:avLst>
          </a:prstGeom>
          <a:noFill/>
          <a:ln w="19050" cap="flat" cmpd="sng" algn="ctr">
            <a:solidFill>
              <a:srgbClr val="009DD9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 anchorCtr="0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Verify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검증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ysClr val="windowText" lastClr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맞는지 확인·수정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3B71FAD2-5F93-A8EA-0B2B-2DB4D4092489}"/>
              </a:ext>
            </a:extLst>
          </p:cNvPr>
          <p:cNvSpPr/>
          <p:nvPr/>
        </p:nvSpPr>
        <p:spPr>
          <a:xfrm>
            <a:off x="3198027" y="3384656"/>
            <a:ext cx="283464" cy="329184"/>
          </a:xfrm>
          <a:prstGeom prst="rightArrow">
            <a:avLst>
              <a:gd name="adj1" fmla="val 55000"/>
              <a:gd name="adj2" fmla="val 5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ysClr val="windowText" lastClr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6B9F8E62-5D06-9C03-9F11-5132A79D0501}"/>
              </a:ext>
            </a:extLst>
          </p:cNvPr>
          <p:cNvSpPr/>
          <p:nvPr/>
        </p:nvSpPr>
        <p:spPr>
          <a:xfrm>
            <a:off x="5913794" y="3384656"/>
            <a:ext cx="283464" cy="329184"/>
          </a:xfrm>
          <a:prstGeom prst="rightArrow">
            <a:avLst>
              <a:gd name="adj1" fmla="val 55000"/>
              <a:gd name="adj2" fmla="val 5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ysClr val="windowText" lastClr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CF7C38DF-D25E-936A-841B-04C369E3B1D9}"/>
              </a:ext>
            </a:extLst>
          </p:cNvPr>
          <p:cNvSpPr/>
          <p:nvPr/>
        </p:nvSpPr>
        <p:spPr>
          <a:xfrm>
            <a:off x="8629563" y="3384656"/>
            <a:ext cx="283464" cy="329184"/>
          </a:xfrm>
          <a:prstGeom prst="rightArrow">
            <a:avLst>
              <a:gd name="adj1" fmla="val 55000"/>
              <a:gd name="adj2" fmla="val 5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ysClr val="windowText" lastClr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cxnSp>
        <p:nvCxnSpPr>
          <p:cNvPr id="36" name="Connector 17">
            <a:extLst>
              <a:ext uri="{FF2B5EF4-FFF2-40B4-BE49-F238E27FC236}">
                <a16:creationId xmlns:a16="http://schemas.microsoft.com/office/drawing/2014/main" id="{EFEB9134-0BAC-C1BE-07F6-150CE9E89A68}"/>
              </a:ext>
            </a:extLst>
          </p:cNvPr>
          <p:cNvCxnSpPr/>
          <p:nvPr/>
        </p:nvCxnSpPr>
        <p:spPr>
          <a:xfrm flipH="1">
            <a:off x="4697643" y="4934056"/>
            <a:ext cx="5431536" cy="0"/>
          </a:xfrm>
          <a:prstGeom prst="line">
            <a:avLst/>
          </a:prstGeom>
          <a:ln w="19050" cap="flat" cmpd="sng" algn="ctr">
            <a:solidFill>
              <a:srgbClr val="10CF9B"/>
            </a:solidFill>
            <a:prstDash val="solid"/>
            <a:miter lim="800000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C9CD7D5-04CD-8D48-80E8-06CBB0F52E79}"/>
              </a:ext>
            </a:extLst>
          </p:cNvPr>
          <p:cNvSpPr txBox="1"/>
          <p:nvPr/>
        </p:nvSpPr>
        <p:spPr>
          <a:xfrm>
            <a:off x="5849787" y="4972156"/>
            <a:ext cx="27432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dirty="0" err="1">
                <a:solidFill>
                  <a:srgbClr val="0E9E7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수정·반복</a:t>
            </a:r>
            <a:endParaRPr sz="1600" b="1" dirty="0">
              <a:solidFill>
                <a:srgbClr val="0E9E76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6517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889064" y="3316072"/>
            <a:ext cx="2336800" cy="1003300"/>
          </a:xfrm>
          <a:prstGeom prst="roundRect">
            <a:avLst>
              <a:gd name="adj" fmla="val 8000"/>
            </a:avLst>
          </a:prstGeom>
          <a:solidFill>
            <a:srgbClr val="174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메인 에이전트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9D6E8"/>
                </a:solidFill>
                <a:latin typeface="Noto Sans KR"/>
              </a:rPr>
              <a:t>작업 분배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6784" y="2221332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 cap="flat" cmpd="sng" algn="ctr">
            <a:solidFill>
              <a:srgbClr val="0F6FC6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E6FD9"/>
                </a:solidFill>
                <a:latin typeface="Noto Sans KR"/>
              </a:rPr>
              <a:t>출제 서브에이전트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B2F36"/>
                </a:solidFill>
                <a:latin typeface="Noto Sans KR"/>
              </a:rPr>
              <a:t>문제·정답·해설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6784" y="4278732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 cap="flat" cmpd="sng" algn="ctr">
            <a:solidFill>
              <a:srgbClr val="10CF9B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0CF9B"/>
                </a:solidFill>
                <a:latin typeface="Noto Sans KR"/>
              </a:rPr>
              <a:t>검토 서브에이전트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B2F36"/>
                </a:solidFill>
                <a:latin typeface="Noto Sans KR"/>
              </a:rPr>
              <a:t>직접 풀어보고 오류·난이도·중복 점검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185224" y="2815692"/>
            <a:ext cx="1005840" cy="822960"/>
          </a:xfrm>
          <a:prstGeom prst="line">
            <a:avLst/>
          </a:prstGeom>
          <a:ln w="31750" cap="flat" cmpd="sng" algn="ctr">
            <a:solidFill>
              <a:srgbClr val="0F6FC6"/>
            </a:solidFill>
            <a:prstDash val="solid"/>
            <a:miter lim="800000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85224" y="4004411"/>
            <a:ext cx="1005840" cy="822961"/>
          </a:xfrm>
          <a:prstGeom prst="line">
            <a:avLst/>
          </a:prstGeom>
          <a:ln w="31750" cap="flat" cmpd="sng" algn="ctr">
            <a:solidFill>
              <a:srgbClr val="0F6FC6"/>
            </a:solidFill>
            <a:prstDash val="solid"/>
            <a:miter lim="800000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13864" y="3316072"/>
            <a:ext cx="2336800" cy="1003300"/>
          </a:xfrm>
          <a:prstGeom prst="roundRect">
            <a:avLst>
              <a:gd name="adj" fmla="val 8000"/>
            </a:avLst>
          </a:prstGeom>
          <a:solidFill>
            <a:srgbClr val="0F6FC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취합·정리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9E3F7"/>
                </a:solidFill>
                <a:latin typeface="Noto Sans KR"/>
              </a:rPr>
              <a:t>최종 문제지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02943" y="2815692"/>
            <a:ext cx="960121" cy="822960"/>
          </a:xfrm>
          <a:prstGeom prst="line">
            <a:avLst/>
          </a:prstGeom>
          <a:ln w="31750" cap="flat" cmpd="sng" algn="ctr">
            <a:solidFill>
              <a:srgbClr val="0F6FC6"/>
            </a:solidFill>
            <a:prstDash val="solid"/>
            <a:miter lim="800000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802943" y="4004411"/>
            <a:ext cx="960121" cy="822961"/>
          </a:xfrm>
          <a:prstGeom prst="line">
            <a:avLst/>
          </a:prstGeom>
          <a:ln w="31750" cap="flat" cmpd="sng" algn="ctr">
            <a:solidFill>
              <a:srgbClr val="0F6FC6"/>
            </a:solidFill>
            <a:prstDash val="solid"/>
            <a:miter lim="800000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36784" y="3501492"/>
            <a:ext cx="3566160" cy="197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 err="1">
                <a:solidFill>
                  <a:srgbClr val="6B7280"/>
                </a:solidFill>
                <a:latin typeface="Noto Sans KR"/>
              </a:rPr>
              <a:t>서로</a:t>
            </a:r>
            <a:r>
              <a:rPr sz="1300" b="1" dirty="0">
                <a:solidFill>
                  <a:srgbClr val="6B7280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6B7280"/>
                </a:solidFill>
                <a:latin typeface="Noto Sans KR"/>
              </a:rPr>
              <a:t>독립</a:t>
            </a:r>
            <a:r>
              <a:rPr sz="1300" b="1" dirty="0">
                <a:solidFill>
                  <a:srgbClr val="6B7280"/>
                </a:solidFill>
                <a:latin typeface="Noto Sans KR"/>
              </a:rPr>
              <a:t> — </a:t>
            </a:r>
            <a:r>
              <a:rPr sz="1300" b="1" dirty="0" err="1">
                <a:solidFill>
                  <a:srgbClr val="6B7280"/>
                </a:solidFill>
                <a:latin typeface="Noto Sans KR"/>
              </a:rPr>
              <a:t>출제자</a:t>
            </a:r>
            <a:r>
              <a:rPr sz="1300" b="1" dirty="0">
                <a:solidFill>
                  <a:srgbClr val="6B7280"/>
                </a:solidFill>
                <a:latin typeface="Noto Sans KR"/>
              </a:rPr>
              <a:t> ≠ </a:t>
            </a:r>
            <a:r>
              <a:rPr sz="1300" b="1" dirty="0" err="1">
                <a:solidFill>
                  <a:srgbClr val="6B7280"/>
                </a:solidFill>
                <a:latin typeface="Noto Sans KR"/>
              </a:rPr>
              <a:t>검토자</a:t>
            </a:r>
            <a:endParaRPr sz="1300" b="1" dirty="0">
              <a:solidFill>
                <a:srgbClr val="6B7280"/>
              </a:solidFill>
              <a:latin typeface="Noto Sans KR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2784" y="5763728"/>
            <a:ext cx="10652760" cy="658368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B2F36"/>
                </a:solidFill>
                <a:latin typeface="Noto Sans KR"/>
              </a:rPr>
              <a:t>출제·검토를 나누면 자기 검토보다 오류 포착 ↑ — 단, 같은 모델은 공통 오류를 함께 놓칠 수 있어 </a:t>
            </a:r>
            <a:r>
              <a:rPr sz="1600" b="1">
                <a:solidFill>
                  <a:srgbClr val="17406D"/>
                </a:solidFill>
                <a:latin typeface="Noto Sans KR"/>
              </a:rPr>
              <a:t>최종 검증은 사람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D67D33D5-DB84-99D3-163E-84D79EA5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서브에이전트(subagent) 활용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D6075-E672-DB7A-18E3-C9BB5042F99D}"/>
              </a:ext>
            </a:extLst>
          </p:cNvPr>
          <p:cNvSpPr txBox="1"/>
          <p:nvPr/>
        </p:nvSpPr>
        <p:spPr>
          <a:xfrm>
            <a:off x="1055440" y="1504651"/>
            <a:ext cx="839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KR" b="1" dirty="0"/>
              <a:t>서브에이전트(subagent)</a:t>
            </a:r>
            <a:r>
              <a:rPr lang="en-US" altLang="ko-KR" b="1" dirty="0"/>
              <a:t>: </a:t>
            </a:r>
            <a:r>
              <a:rPr lang="en-KR" dirty="0"/>
              <a:t>컨텍스트(context)가 독립적인 별도의 에이전트 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453E90-3D5B-C058-C5B4-E2432445E0D5}"/>
              </a:ext>
            </a:extLst>
          </p:cNvPr>
          <p:cNvSpPr txBox="1"/>
          <p:nvPr/>
        </p:nvSpPr>
        <p:spPr>
          <a:xfrm>
            <a:off x="882784" y="2126166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예시</a:t>
            </a:r>
            <a:r>
              <a:rPr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: </a:t>
            </a:r>
            <a:r>
              <a:rPr lang="ko-KR" altLang="en-US" dirty="0">
                <a:latin typeface="Noto Sans KR" panose="020B0200000000000000" pitchFamily="34" charset="-128"/>
                <a:ea typeface="Noto Sans KR" panose="020B0200000000000000" pitchFamily="34" charset="-128"/>
              </a:rPr>
              <a:t>문제 출제하기</a:t>
            </a:r>
            <a:endParaRPr lang="en-KR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955" name="Slide Number Placeholder">
            <a:extLst>
              <a:ext uri="{FF2B5EF4-FFF2-40B4-BE49-F238E27FC236}">
                <a16:creationId xmlns:a16="http://schemas.microsoft.com/office/drawing/2014/main" id="{DCCC5BB5-8463-C657-EA35-37A721FD93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36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DB63-A2AD-3335-B49B-31D6E8004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Live D</a:t>
            </a:r>
            <a:r>
              <a:rPr lang="en-US" dirty="0"/>
              <a:t>e</a:t>
            </a:r>
            <a:r>
              <a:rPr lang="en-KR" dirty="0"/>
              <a:t>mo: 일반물리 강의 준비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0E3653E-274C-D0EC-F0E0-EF2249F447C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055440" y="1538790"/>
            <a:ext cx="3842342" cy="43211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F7223-A7E5-6F75-7971-EF2A4B7D592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9DEC1-6A12-73C3-77C0-04FA492F51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0AF88-6A44-AD54-1F6A-BC63CF3615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7D9E5C-A44B-2E2F-34E4-3F920E979F48}"/>
              </a:ext>
            </a:extLst>
          </p:cNvPr>
          <p:cNvSpPr txBox="1"/>
          <p:nvPr/>
        </p:nvSpPr>
        <p:spPr>
          <a:xfrm>
            <a:off x="5240905" y="2168860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https://yw-choi.github.io/PHY1001/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61C3DE-D9C1-BEE4-22EE-0F0E5A4A1DCA}"/>
              </a:ext>
            </a:extLst>
          </p:cNvPr>
          <p:cNvSpPr txBox="1"/>
          <p:nvPr/>
        </p:nvSpPr>
        <p:spPr>
          <a:xfrm>
            <a:off x="5240905" y="1728986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일반물리 강의사이트</a:t>
            </a:r>
            <a:endParaRPr lang="en-KR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3906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DC1D-E3FD-CE7A-6159-3998A80A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70EF-D945-AA3E-9578-1FB1F6AFA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dirty="0"/>
              <a:t>Agent Skills란?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9C0DE-8EC6-00E5-6AC9-19319244B26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ko-KR" sz="2000" b="1" dirty="0">
                <a:solidFill>
                  <a:schemeClr val="accent1"/>
                </a:solidFill>
              </a:rPr>
              <a:t>에이전트에게 전문 능력을 주입하는 지식 폴더</a:t>
            </a:r>
          </a:p>
          <a:p>
            <a:pPr marL="457200" indent="-457200">
              <a:spcAft>
                <a:spcPts val="600"/>
              </a:spcAft>
              <a:buFont typeface="Arial"/>
              <a:buChar char="•"/>
            </a:pPr>
            <a:r>
              <a:rPr lang="ko-KR" sz="1800" b="1" dirty="0"/>
              <a:t>SKILL.md </a:t>
            </a:r>
            <a:r>
              <a:rPr lang="ko-KR" sz="1800" dirty="0"/>
              <a:t>파일에 지시문·스크립트·리소스를 담은 폴더 하나가 곧 하나의 스킬</a:t>
            </a:r>
          </a:p>
          <a:p>
            <a:pPr marL="457200" indent="-457200">
              <a:spcAft>
                <a:spcPts val="600"/>
              </a:spcAft>
              <a:buFont typeface="Arial"/>
              <a:buChar char="•"/>
            </a:pPr>
            <a:r>
              <a:rPr lang="ko-KR" sz="1800" dirty="0"/>
              <a:t>모델에 지식을 학습시키는 것이 아니라, </a:t>
            </a:r>
            <a:r>
              <a:rPr lang="ko-KR" sz="1800" b="1" dirty="0"/>
              <a:t>필요할 때만 동적으로 불러와 사용</a:t>
            </a:r>
            <a:r>
              <a:rPr lang="ko-KR" sz="1800" dirty="0"/>
              <a:t> (Progressive Disclosure)</a:t>
            </a:r>
          </a:p>
          <a:p>
            <a:pPr marL="457200" indent="-457200">
              <a:spcAft>
                <a:spcPts val="600"/>
              </a:spcAft>
              <a:buFont typeface="Arial"/>
              <a:buChar char="•"/>
            </a:pPr>
            <a:r>
              <a:rPr lang="ko-KR" sz="1800" dirty="0"/>
              <a:t>필요할 때만 읽어서 컨텍스트를 아껴 쓴다</a:t>
            </a:r>
            <a:r>
              <a:rPr lang="en-US" altLang="ko-KR" sz="1800" dirty="0"/>
              <a:t> </a:t>
            </a:r>
            <a:r>
              <a:rPr lang="en-US" altLang="ko-KR" sz="1800" dirty="0">
                <a:sym typeface="Wingdings" pitchFamily="2" charset="2"/>
              </a:rPr>
              <a:t> </a:t>
            </a:r>
            <a:r>
              <a:rPr lang="ko-KR" sz="1800" dirty="0"/>
              <a:t>수십 개 스킬도 가볍게 유지</a:t>
            </a:r>
          </a:p>
          <a:p>
            <a:pPr marL="457200" indent="-457200">
              <a:buFont typeface="Arial"/>
              <a:buChar char="•"/>
            </a:pPr>
            <a:r>
              <a:rPr lang="en-US" altLang="ko-KR" sz="1800" dirty="0"/>
              <a:t>Claude Code, Codex </a:t>
            </a:r>
            <a:r>
              <a:rPr lang="ko-KR" altLang="en-US" sz="1800" dirty="0"/>
              <a:t>등 대부분의 </a:t>
            </a:r>
            <a:r>
              <a:rPr lang="en-US" altLang="ko-KR" sz="1800" dirty="0"/>
              <a:t>agent</a:t>
            </a:r>
            <a:r>
              <a:rPr lang="ko-KR" altLang="en-US" sz="1800" dirty="0"/>
              <a:t> 모두 지원</a:t>
            </a:r>
            <a:endParaRPr lang="ko-KR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093BB-DCE1-CD3A-F553-1861B69BF8B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4A261-4567-ACE2-CBA9-85EDE7AC79C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B61-C68B-FB44-DD0F-5B8D3048653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43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5010A-B441-2E13-6149-9DC7333B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dirty="0"/>
              <a:t>Skill 예시</a:t>
            </a:r>
          </a:p>
        </p:txBody>
      </p:sp>
      <p:sp>
        <p:nvSpPr>
          <p:cNvPr id="100" name="rect100"/>
          <p:cNvSpPr/>
          <p:nvPr/>
        </p:nvSpPr>
        <p:spPr>
          <a:xfrm>
            <a:off x="1054100" y="1524000"/>
            <a:ext cx="76200" cy="11176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txBody>
          <a:bodyPr wrap="square" lIns="165100" tIns="101600" rIns="91440" bIns="91440" anchor="ctr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1" name="rect101"/>
          <p:cNvSpPr/>
          <p:nvPr/>
        </p:nvSpPr>
        <p:spPr>
          <a:xfrm>
            <a:off x="1130300" y="1524000"/>
            <a:ext cx="10007600" cy="11176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 wrap="square" lIns="165100" tIns="101600" rIns="91440" bIns="91440" anchor="ctr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2" name="rect102"/>
          <p:cNvSpPr/>
          <p:nvPr/>
        </p:nvSpPr>
        <p:spPr>
          <a:xfrm>
            <a:off x="1333500" y="1778000"/>
            <a:ext cx="609600" cy="609600"/>
          </a:xfrm>
          <a:prstGeom prst="roundRect">
            <a:avLst/>
          </a:prstGeom>
          <a:solidFill>
            <a:srgbClr val="0F6FC6"/>
          </a:solidFill>
          <a:ln>
            <a:noFill/>
          </a:ln>
        </p:spPr>
        <p:txBody>
          <a:bodyPr wrap="square" lIns="165100" tIns="101600" rIns="91440" bIns="91440" anchor="ctr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3" name="rect103"/>
          <p:cNvSpPr/>
          <p:nvPr/>
        </p:nvSpPr>
        <p:spPr>
          <a:xfrm>
            <a:off x="2222500" y="1524000"/>
            <a:ext cx="8763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101600" rIns="91440" bIns="91440" anchor="ctr"/>
          <a:lstStyle/>
          <a:p>
            <a:pPr>
              <a:spcAft>
                <a:spcPts val="200"/>
              </a:spcAft>
            </a:pPr>
            <a:r>
              <a:rPr lang="ko-KR" sz="2000" b="1" dirty="0">
                <a:solidFill>
                  <a:srgbClr val="17406D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문서 작업 스킬</a:t>
            </a:r>
            <a:r>
              <a:rPr lang="ko-KR" sz="1500" dirty="0">
                <a:solidFill>
                  <a:srgbClr val="0F6FC6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  Anthropic 기본 제공</a:t>
            </a:r>
          </a:p>
          <a:p>
            <a:r>
              <a:rPr lang="ko-KR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PowerPoint · Excel · Word · PDF — 실제 파일을 생성·편집하고 서식까지 맞춤</a:t>
            </a:r>
          </a:p>
        </p:txBody>
      </p:sp>
      <p:sp>
        <p:nvSpPr>
          <p:cNvPr id="104" name="rect104"/>
          <p:cNvSpPr/>
          <p:nvPr/>
        </p:nvSpPr>
        <p:spPr>
          <a:xfrm>
            <a:off x="1054100" y="2794000"/>
            <a:ext cx="76200" cy="11176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txBody>
          <a:bodyPr wrap="square" lIns="165100" tIns="101600" rIns="91440" bIns="91440" anchor="ctr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5" name="rect105"/>
          <p:cNvSpPr/>
          <p:nvPr/>
        </p:nvSpPr>
        <p:spPr>
          <a:xfrm>
            <a:off x="1130300" y="2794000"/>
            <a:ext cx="10007600" cy="11176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 wrap="square" lIns="165100" tIns="101600" rIns="91440" bIns="91440" anchor="ctr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6" name="rect106"/>
          <p:cNvSpPr/>
          <p:nvPr/>
        </p:nvSpPr>
        <p:spPr>
          <a:xfrm>
            <a:off x="1333500" y="3048000"/>
            <a:ext cx="609600" cy="609600"/>
          </a:xfrm>
          <a:prstGeom prst="roundRect">
            <a:avLst/>
          </a:prstGeom>
          <a:solidFill>
            <a:srgbClr val="10CF9B"/>
          </a:solidFill>
          <a:ln>
            <a:noFill/>
          </a:ln>
        </p:spPr>
        <p:txBody>
          <a:bodyPr wrap="square" lIns="165100" tIns="101600" rIns="91440" bIns="91440" anchor="ctr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7" name="rect107"/>
          <p:cNvSpPr/>
          <p:nvPr/>
        </p:nvSpPr>
        <p:spPr>
          <a:xfrm>
            <a:off x="2222500" y="2794000"/>
            <a:ext cx="8763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101600" rIns="91440" bIns="91440" anchor="ctr"/>
          <a:lstStyle/>
          <a:p>
            <a:pPr>
              <a:spcAft>
                <a:spcPts val="200"/>
              </a:spcAft>
            </a:pPr>
            <a:r>
              <a:rPr lang="ko-KR" altLang="en-US" sz="2000" b="1" dirty="0">
                <a:solidFill>
                  <a:srgbClr val="17406D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외부 서비스</a:t>
            </a:r>
            <a:r>
              <a:rPr lang="ko-KR" sz="2000" b="1" dirty="0">
                <a:solidFill>
                  <a:srgbClr val="17406D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스킬</a:t>
            </a:r>
            <a:r>
              <a:rPr lang="ko-KR" sz="1500" dirty="0">
                <a:solidFill>
                  <a:srgbClr val="10CF9B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  외부 서비스 연동</a:t>
            </a:r>
          </a:p>
          <a:p>
            <a:r>
              <a:rPr lang="ko-KR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Notion · Canva · Figma · Atlassian — 각 서비스의 </a:t>
            </a:r>
            <a:r>
              <a:rPr lang="ko-KR" altLang="en-US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모범</a:t>
            </a:r>
            <a:r>
              <a:rPr lang="ko-KR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사례</a:t>
            </a:r>
            <a:r>
              <a:rPr lang="en-US" altLang="ko-KR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활용법을</a:t>
            </a:r>
            <a:r>
              <a:rPr lang="ko-KR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주입</a:t>
            </a:r>
          </a:p>
        </p:txBody>
      </p:sp>
      <p:sp>
        <p:nvSpPr>
          <p:cNvPr id="108" name="rect108"/>
          <p:cNvSpPr/>
          <p:nvPr/>
        </p:nvSpPr>
        <p:spPr>
          <a:xfrm>
            <a:off x="1054100" y="4064000"/>
            <a:ext cx="76200" cy="111760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txBody>
          <a:bodyPr wrap="square" lIns="165100" tIns="101600" rIns="91440" bIns="91440" anchor="ctr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9" name="rect109"/>
          <p:cNvSpPr/>
          <p:nvPr/>
        </p:nvSpPr>
        <p:spPr>
          <a:xfrm>
            <a:off x="1130300" y="4064000"/>
            <a:ext cx="10007600" cy="11176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 wrap="square" lIns="165100" tIns="101600" rIns="91440" bIns="91440" anchor="ctr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0" name="rect110"/>
          <p:cNvSpPr/>
          <p:nvPr/>
        </p:nvSpPr>
        <p:spPr>
          <a:xfrm>
            <a:off x="1333500" y="4318000"/>
            <a:ext cx="609600" cy="609600"/>
          </a:xfrm>
          <a:prstGeom prst="roundRect">
            <a:avLst/>
          </a:prstGeom>
          <a:solidFill>
            <a:srgbClr val="7CCA62"/>
          </a:solidFill>
          <a:ln>
            <a:noFill/>
          </a:ln>
        </p:spPr>
        <p:txBody>
          <a:bodyPr wrap="square" lIns="165100" tIns="101600" rIns="91440" bIns="91440" anchor="ctr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1" name="rect111"/>
          <p:cNvSpPr/>
          <p:nvPr/>
        </p:nvSpPr>
        <p:spPr>
          <a:xfrm>
            <a:off x="2222500" y="4064000"/>
            <a:ext cx="8763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101600" rIns="91440" bIns="91440" anchor="ctr"/>
          <a:lstStyle/>
          <a:p>
            <a:pPr>
              <a:spcAft>
                <a:spcPts val="200"/>
              </a:spcAft>
            </a:pPr>
            <a:r>
              <a:rPr lang="ko-KR" sz="2000" b="1" dirty="0">
                <a:solidFill>
                  <a:srgbClr val="17406D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커스텀 스킬</a:t>
            </a:r>
            <a:r>
              <a:rPr lang="ko-KR" sz="1500" dirty="0">
                <a:solidFill>
                  <a:srgbClr val="7CCA6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  나만의 업무 자동화</a:t>
            </a:r>
          </a:p>
          <a:p>
            <a:r>
              <a:rPr lang="ko-KR" altLang="en-US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연구실 내부 </a:t>
            </a:r>
            <a:r>
              <a:rPr lang="ko-KR" altLang="en-US" sz="1600" dirty="0" err="1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가이드</a:t>
            </a:r>
            <a:r>
              <a:rPr lang="ko-KR" sz="1600" dirty="0" err="1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·데이터</a:t>
            </a:r>
            <a:r>
              <a:rPr lang="ko-KR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분석 워크플로·반복 작업을 SKILL.md로 정의</a:t>
            </a:r>
          </a:p>
        </p:txBody>
      </p:sp>
      <p:pic>
        <p:nvPicPr>
          <p:cNvPr id="112" name="Graphic 112" descr="Partner skil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5900" y="3187700"/>
            <a:ext cx="330200" cy="330200"/>
          </a:xfrm>
          <a:prstGeom prst="rect">
            <a:avLst/>
          </a:prstGeom>
        </p:spPr>
      </p:pic>
      <p:pic>
        <p:nvPicPr>
          <p:cNvPr id="113" name="Graphic 113" descr="Custom skil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5900" y="4457700"/>
            <a:ext cx="330200" cy="330200"/>
          </a:xfrm>
          <a:prstGeom prst="rect">
            <a:avLst/>
          </a:prstGeom>
        </p:spPr>
      </p:pic>
      <p:pic>
        <p:nvPicPr>
          <p:cNvPr id="114" name="Graphic 114" descr="Document skil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900" y="1917700"/>
            <a:ext cx="330200" cy="330200"/>
          </a:xfrm>
          <a:prstGeom prst="rect">
            <a:avLst/>
          </a:prstGeom>
        </p:spPr>
      </p:pic>
      <p:sp>
        <p:nvSpPr>
          <p:cNvPr id="950" name="Slide Number Placeholder">
            <a:extLst>
              <a:ext uri="{FF2B5EF4-FFF2-40B4-BE49-F238E27FC236}">
                <a16:creationId xmlns:a16="http://schemas.microsoft.com/office/drawing/2014/main" id="{DCCC5BB5-8463-C657-EA35-37A721FD93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49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9275F-6AC3-7E4F-F371-FD8B7311A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dirty="0"/>
              <a:t>Computer </a:t>
            </a:r>
            <a:r>
              <a:rPr lang="ko-KR" dirty="0" err="1"/>
              <a:t>Use</a:t>
            </a:r>
            <a:r>
              <a:rPr lang="en-US" altLang="ko-KR" dirty="0"/>
              <a:t> Skills</a:t>
            </a:r>
            <a:endParaRPr lang="ko-KR" dirty="0"/>
          </a:p>
        </p:txBody>
      </p:sp>
      <p:sp>
        <p:nvSpPr>
          <p:cNvPr id="100" name="s100"/>
          <p:cNvSpPr/>
          <p:nvPr/>
        </p:nvSpPr>
        <p:spPr>
          <a:xfrm>
            <a:off x="1054100" y="1574800"/>
            <a:ext cx="10083800" cy="660400"/>
          </a:xfrm>
          <a:prstGeom prst="roundRect">
            <a:avLst/>
          </a:prstGeom>
          <a:solidFill>
            <a:srgbClr val="0F6FC6"/>
          </a:solidFill>
          <a:ln>
            <a:noFill/>
          </a:ln>
        </p:spPr>
        <p:txBody>
          <a:bodyPr wrap="square" lIns="190500" tIns="152400" rIns="190500" bIns="91440" anchor="ctr"/>
          <a:lstStyle/>
          <a:p>
            <a:r>
              <a:rPr lang="ko-KR" sz="1900" b="1" dirty="0">
                <a:solidFill>
                  <a:srgbClr val="FFFFF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스크린을 보고 마우스·키보드를 직접 제어하는 에이전트 </a:t>
            </a:r>
            <a:r>
              <a:rPr lang="en-US" altLang="ko-KR" sz="1900" b="1" dirty="0">
                <a:solidFill>
                  <a:srgbClr val="FFFFF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Skills</a:t>
            </a:r>
            <a:endParaRPr lang="ko-KR" sz="1900" b="1" dirty="0">
              <a:solidFill>
                <a:srgbClr val="FFFFFF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1" name="s101"/>
          <p:cNvSpPr/>
          <p:nvPr/>
        </p:nvSpPr>
        <p:spPr>
          <a:xfrm>
            <a:off x="1054100" y="2463800"/>
            <a:ext cx="4927600" cy="13970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 wrap="square" lIns="190500" tIns="152400" rIns="190500" bIns="91440" anchor="t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2" name="s102"/>
          <p:cNvSpPr/>
          <p:nvPr/>
        </p:nvSpPr>
        <p:spPr>
          <a:xfrm>
            <a:off x="1054100" y="2463800"/>
            <a:ext cx="76200" cy="1397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txBody>
          <a:bodyPr wrap="square" lIns="190500" tIns="152400" rIns="190500" bIns="91440" anchor="t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3" name="s103"/>
          <p:cNvSpPr/>
          <p:nvPr/>
        </p:nvSpPr>
        <p:spPr>
          <a:xfrm>
            <a:off x="1282700" y="2463800"/>
            <a:ext cx="4546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152400" rIns="190500" bIns="91440" anchor="ctr"/>
          <a:lstStyle/>
          <a:p>
            <a:pPr>
              <a:spcAft>
                <a:spcPts val="300"/>
              </a:spcAft>
            </a:pPr>
            <a:r>
              <a:rPr lang="ko-KR" sz="1900" b="1" dirty="0">
                <a:solidFill>
                  <a:srgbClr val="17406D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화면을 눈으로 본다</a:t>
            </a:r>
          </a:p>
          <a:p>
            <a:r>
              <a:rPr lang="ko-KR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스크린샷을 측어 화면 내용·UI 요소를 이해</a:t>
            </a:r>
          </a:p>
        </p:txBody>
      </p:sp>
      <p:sp>
        <p:nvSpPr>
          <p:cNvPr id="104" name="s104"/>
          <p:cNvSpPr/>
          <p:nvPr/>
        </p:nvSpPr>
        <p:spPr>
          <a:xfrm>
            <a:off x="6210300" y="2463800"/>
            <a:ext cx="4927600" cy="13970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 wrap="square" lIns="190500" tIns="152400" rIns="190500" bIns="91440" anchor="t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5" name="s105"/>
          <p:cNvSpPr/>
          <p:nvPr/>
        </p:nvSpPr>
        <p:spPr>
          <a:xfrm>
            <a:off x="6210300" y="2463800"/>
            <a:ext cx="76200" cy="1397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 wrap="square" lIns="190500" tIns="152400" rIns="190500" bIns="91440" anchor="t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6" name="s106"/>
          <p:cNvSpPr/>
          <p:nvPr/>
        </p:nvSpPr>
        <p:spPr>
          <a:xfrm>
            <a:off x="6438900" y="2463800"/>
            <a:ext cx="4546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152400" rIns="190500" bIns="91440" anchor="ctr"/>
          <a:lstStyle/>
          <a:p>
            <a:pPr>
              <a:spcAft>
                <a:spcPts val="300"/>
              </a:spcAft>
            </a:pPr>
            <a:r>
              <a:rPr lang="ko-KR" sz="1900" b="1" dirty="0">
                <a:solidFill>
                  <a:srgbClr val="17406D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손으로 조작한다</a:t>
            </a:r>
          </a:p>
          <a:p>
            <a:r>
              <a:rPr lang="ko-KR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클릭·타이핑·스크롤 등 사람처럼 조작</a:t>
            </a:r>
          </a:p>
        </p:txBody>
      </p:sp>
      <p:sp>
        <p:nvSpPr>
          <p:cNvPr id="107" name="s107"/>
          <p:cNvSpPr/>
          <p:nvPr/>
        </p:nvSpPr>
        <p:spPr>
          <a:xfrm>
            <a:off x="1054100" y="3987800"/>
            <a:ext cx="4927600" cy="13970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 wrap="square" lIns="190500" tIns="152400" rIns="190500" bIns="91440" anchor="t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8" name="s108"/>
          <p:cNvSpPr/>
          <p:nvPr/>
        </p:nvSpPr>
        <p:spPr>
          <a:xfrm>
            <a:off x="1054100" y="3987800"/>
            <a:ext cx="76200" cy="13970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txBody>
          <a:bodyPr wrap="square" lIns="190500" tIns="152400" rIns="190500" bIns="91440" anchor="t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9" name="s109"/>
          <p:cNvSpPr/>
          <p:nvPr/>
        </p:nvSpPr>
        <p:spPr>
          <a:xfrm>
            <a:off x="1282700" y="3987800"/>
            <a:ext cx="4546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152400" rIns="190500" bIns="91440" anchor="ctr"/>
          <a:lstStyle/>
          <a:p>
            <a:pPr>
              <a:spcAft>
                <a:spcPts val="300"/>
              </a:spcAft>
            </a:pPr>
            <a:r>
              <a:rPr lang="ko-KR" sz="1900" b="1" dirty="0">
                <a:solidFill>
                  <a:srgbClr val="17406D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API 없어도 자동화</a:t>
            </a:r>
          </a:p>
          <a:p>
            <a:r>
              <a:rPr lang="ko-KR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연동이 없는 레거시·내부 도구도 GUI로 조작</a:t>
            </a:r>
          </a:p>
        </p:txBody>
      </p:sp>
      <p:sp>
        <p:nvSpPr>
          <p:cNvPr id="110" name="s110"/>
          <p:cNvSpPr/>
          <p:nvPr/>
        </p:nvSpPr>
        <p:spPr>
          <a:xfrm>
            <a:off x="6210300" y="3987800"/>
            <a:ext cx="4927600" cy="13970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 wrap="square" lIns="190500" tIns="152400" rIns="190500" bIns="91440" anchor="t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1" name="s111"/>
          <p:cNvSpPr/>
          <p:nvPr/>
        </p:nvSpPr>
        <p:spPr>
          <a:xfrm>
            <a:off x="6210300" y="3987800"/>
            <a:ext cx="76200" cy="139700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txBody>
          <a:bodyPr wrap="square" lIns="190500" tIns="152400" rIns="190500" bIns="91440" anchor="t"/>
          <a:lstStyle/>
          <a:p>
            <a:endParaRPr 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2" name="s112"/>
          <p:cNvSpPr/>
          <p:nvPr/>
        </p:nvSpPr>
        <p:spPr>
          <a:xfrm>
            <a:off x="6438900" y="3987800"/>
            <a:ext cx="4546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152400" rIns="190500" bIns="91440" anchor="ctr"/>
          <a:lstStyle/>
          <a:p>
            <a:pPr>
              <a:spcAft>
                <a:spcPts val="300"/>
              </a:spcAft>
            </a:pPr>
            <a:r>
              <a:rPr lang="ko-KR" sz="1900" b="1" dirty="0">
                <a:solidFill>
                  <a:srgbClr val="17406D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화면 변화에 적응</a:t>
            </a:r>
          </a:p>
          <a:p>
            <a:r>
              <a:rPr lang="ko-KR" sz="16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좌표 고정 RPA와 달리 UI가 바뀜도 유연하게 대응</a:t>
            </a:r>
          </a:p>
        </p:txBody>
      </p:sp>
      <p:sp>
        <p:nvSpPr>
          <p:cNvPr id="951" name="Slide Number Placeholder">
            <a:extLst>
              <a:ext uri="{FF2B5EF4-FFF2-40B4-BE49-F238E27FC236}">
                <a16:creationId xmlns:a16="http://schemas.microsoft.com/office/drawing/2014/main" id="{DCCC5BB5-8463-C657-EA35-37A721FD93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18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2D0D-9C02-3FED-8E0B-5D471ED1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Live Demo: SAINT 자동화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54A13-78AD-B5FD-A71C-365E609EB19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4377F-CF73-09A7-B36F-4F2E6ADE32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43172-12AF-56A1-010B-FCF4F8564D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A497F5-13D1-282C-EC5D-9F542D208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068" y="1403775"/>
            <a:ext cx="3813691" cy="4635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BF6B3D-9DBE-68DA-4768-C9632BF61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80" y="1406713"/>
            <a:ext cx="6173819" cy="463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2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B0B6E45-BC0F-FECB-A761-CFF5703D8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10" y="1547406"/>
            <a:ext cx="4024951" cy="476191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14B0180-278B-4569-F1D5-BD33FF7967C0}"/>
              </a:ext>
            </a:extLst>
          </p:cNvPr>
          <p:cNvGrpSpPr/>
          <p:nvPr/>
        </p:nvGrpSpPr>
        <p:grpSpPr>
          <a:xfrm>
            <a:off x="5435663" y="1547406"/>
            <a:ext cx="4395139" cy="1704082"/>
            <a:chOff x="5784359" y="389964"/>
            <a:chExt cx="3192118" cy="123764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5E9B10C-0667-40C1-E2AE-073603396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4359" y="1130371"/>
              <a:ext cx="2062465" cy="49724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2F6D9E-D515-D51C-4262-C2EC90EF6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89155" y="389964"/>
              <a:ext cx="987322" cy="123415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0992ACC-A896-2095-8C44-5197FA6A3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84359" y="389964"/>
              <a:ext cx="1879600" cy="5588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8C83059-4B02-CF4F-1030-F7C0F271FB05}"/>
              </a:ext>
            </a:extLst>
          </p:cNvPr>
          <p:cNvSpPr txBox="1"/>
          <p:nvPr/>
        </p:nvSpPr>
        <p:spPr>
          <a:xfrm>
            <a:off x="5415591" y="3429000"/>
            <a:ext cx="6639829" cy="303262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핵심</a:t>
            </a:r>
            <a:r>
              <a:rPr sz="2000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주장</a:t>
            </a:r>
            <a:endParaRPr sz="2000" b="1" dirty="0">
              <a:solidFill>
                <a:srgbClr val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• Claude</a:t>
            </a:r>
            <a:r>
              <a:rPr lang="en-US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Code (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Opus 4.5</a:t>
            </a:r>
            <a:r>
              <a:rPr lang="en-US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)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대학원생수준</a:t>
            </a:r>
            <a:r>
              <a:rPr lang="en-US" altLang="ko-KR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이론물리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연구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수행</a:t>
            </a:r>
            <a:endParaRPr b="0" dirty="0">
              <a:solidFill>
                <a:srgbClr val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•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통상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1–2년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분량</a:t>
            </a:r>
            <a:r>
              <a:rPr lang="ko-KR" altLang="en-US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  <a:sym typeface="Wingdings" pitchFamily="2" charset="2"/>
              </a:rPr>
              <a:t></a:t>
            </a:r>
            <a:r>
              <a:rPr lang="ko-KR" altLang="en-US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  <a:sym typeface="Wingdings" pitchFamily="2" charset="2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  <a:sym typeface="Wingdings" pitchFamily="2" charset="2"/>
              </a:rPr>
              <a:t>2</a:t>
            </a:r>
            <a:r>
              <a:rPr lang="ko-KR" altLang="en-US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  <a:sym typeface="Wingdings" pitchFamily="2" charset="2"/>
              </a:rPr>
              <a:t>주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(~10×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가속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• "G2 level" = second-year grad student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수준</a:t>
            </a:r>
            <a:endParaRPr b="0" dirty="0">
              <a:solidFill>
                <a:srgbClr val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• </a:t>
            </a:r>
            <a:r>
              <a:rPr lang="ko-KR" altLang="en-US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하지만</a:t>
            </a:r>
            <a:r>
              <a:rPr lang="en-US" altLang="ko-KR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,</a:t>
            </a:r>
            <a:r>
              <a:rPr lang="ko-KR" altLang="en-US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아직은 사람</a:t>
            </a:r>
            <a:r>
              <a:rPr lang="en-US" altLang="ko-KR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지도교수</a:t>
            </a:r>
            <a:r>
              <a:rPr lang="en-US" altLang="ko-KR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)</a:t>
            </a:r>
            <a:r>
              <a:rPr lang="ko-KR" altLang="en-US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의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감독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필수</a:t>
            </a:r>
            <a:endParaRPr b="0" dirty="0">
              <a:solidFill>
                <a:srgbClr val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>
              <a:spcBef>
                <a:spcPts val="1800"/>
              </a:spcBef>
              <a:spcAft>
                <a:spcPts val="800"/>
              </a:spcAft>
            </a:pPr>
            <a:r>
              <a:rPr sz="2000" b="1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프로젝트</a:t>
            </a:r>
            <a:endParaRPr sz="2000" b="1" dirty="0">
              <a:solidFill>
                <a:srgbClr val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• arXiv:2601.02484 — C-parameter Sudakov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resummation</a:t>
            </a:r>
            <a:endParaRPr b="0" dirty="0">
              <a:solidFill>
                <a:srgbClr val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• Claude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계산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·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수치분석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·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논문작성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전반</a:t>
            </a:r>
            <a:r>
              <a:rPr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수행</a:t>
            </a:r>
            <a:endParaRPr b="0" dirty="0">
              <a:solidFill>
                <a:srgbClr val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1EBAE6-C00C-F45D-6F31-0216EDD87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KR" dirty="0"/>
              <a:t>AI agent를 이용한 이론물리 연구 사례 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F8974-67ED-BA12-BA7D-CB4055CF0194}"/>
              </a:ext>
            </a:extLst>
          </p:cNvPr>
          <p:cNvSpPr txBox="1"/>
          <p:nvPr/>
        </p:nvSpPr>
        <p:spPr>
          <a:xfrm>
            <a:off x="16910" y="6403300"/>
            <a:ext cx="559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6"/>
              </a:rPr>
              <a:t>https://www.anthropic.com/research/vibe-physics</a:t>
            </a:r>
            <a:endParaRPr lang="en-US" dirty="0"/>
          </a:p>
        </p:txBody>
      </p:sp>
      <p:sp>
        <p:nvSpPr>
          <p:cNvPr id="952" name="Slide Number Placeholder">
            <a:extLst>
              <a:ext uri="{FF2B5EF4-FFF2-40B4-BE49-F238E27FC236}">
                <a16:creationId xmlns:a16="http://schemas.microsoft.com/office/drawing/2014/main" id="{DCCC5BB5-8463-C657-EA35-37A721FD93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639429-8481-66DF-B473-FC2B95ADA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33" y="2083852"/>
            <a:ext cx="5213309" cy="13925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39C8C6-5799-9553-4C1D-09AF9C688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477" y="1626686"/>
            <a:ext cx="5696243" cy="37481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83061A-0F9A-768D-2B86-E74B4715B5D5}"/>
              </a:ext>
            </a:extLst>
          </p:cNvPr>
          <p:cNvSpPr txBox="1"/>
          <p:nvPr/>
        </p:nvSpPr>
        <p:spPr>
          <a:xfrm>
            <a:off x="418233" y="1372136"/>
            <a:ext cx="521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테렌스 타오</a:t>
            </a:r>
            <a:r>
              <a:rPr lang="en-US" altLang="ko-KR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(</a:t>
            </a:r>
            <a:r>
              <a:rPr lang="ko-KR" altLang="en-US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수학</a:t>
            </a:r>
            <a:r>
              <a:rPr lang="en-US" altLang="ko-KR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AI as proof assistant</a:t>
            </a:r>
            <a:r>
              <a:rPr lang="en-KR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+ LEAN verficiation</a:t>
            </a:r>
            <a:endParaRPr lang="en-US" dirty="0">
              <a:solidFill>
                <a:srgbClr val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10F091-D224-27A8-36A3-B1769AA3A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33" y="4129384"/>
            <a:ext cx="5234628" cy="22919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0E5686-1B16-A9BB-A01F-412998B85012}"/>
              </a:ext>
            </a:extLst>
          </p:cNvPr>
          <p:cNvSpPr txBox="1"/>
          <p:nvPr/>
        </p:nvSpPr>
        <p:spPr>
          <a:xfrm>
            <a:off x="418233" y="3471854"/>
            <a:ext cx="2623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arxiv.org</a:t>
            </a:r>
            <a:r>
              <a:rPr lang="en-US" sz="1400" dirty="0"/>
              <a:t>/abs/2603.26524</a:t>
            </a:r>
            <a:endParaRPr lang="en-KR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C6E899-A764-F92B-66EB-B13021FB0B1B}"/>
              </a:ext>
            </a:extLst>
          </p:cNvPr>
          <p:cNvSpPr txBox="1"/>
          <p:nvPr/>
        </p:nvSpPr>
        <p:spPr>
          <a:xfrm>
            <a:off x="418233" y="6459807"/>
            <a:ext cx="1902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sair.foundation</a:t>
            </a:r>
            <a:r>
              <a:rPr lang="en-US" sz="1400" dirty="0"/>
              <a:t>/</a:t>
            </a:r>
            <a:endParaRPr lang="en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C676E-2B70-7BF1-E698-015F748E99F6}"/>
              </a:ext>
            </a:extLst>
          </p:cNvPr>
          <p:cNvSpPr txBox="1"/>
          <p:nvPr/>
        </p:nvSpPr>
        <p:spPr>
          <a:xfrm>
            <a:off x="6114477" y="1372136"/>
            <a:ext cx="4255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Donald Knuth </a:t>
            </a:r>
            <a:r>
              <a:rPr lang="en-US" altLang="ko-KR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(CS)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246445-0283-ACC5-C9FB-4903FB7560DD}"/>
              </a:ext>
            </a:extLst>
          </p:cNvPr>
          <p:cNvSpPr txBox="1"/>
          <p:nvPr/>
        </p:nvSpPr>
        <p:spPr>
          <a:xfrm>
            <a:off x="5849318" y="5485864"/>
            <a:ext cx="62265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• Knuth </a:t>
            </a:r>
            <a:r>
              <a:rPr lang="ko-KR" alt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 수 주간 풀지 못한 문제 → </a:t>
            </a:r>
            <a:r>
              <a:rPr 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Filip Stappers </a:t>
            </a:r>
            <a:r>
              <a:rPr lang="ko-KR" alt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 </a:t>
            </a:r>
            <a:r>
              <a:rPr lang="en-US" sz="1400"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plan.md</a:t>
            </a:r>
            <a:r>
              <a:rPr 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lang="ko-KR" altLang="en-US" sz="1400" b="0" dirty="0" err="1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스캐폴딩</a:t>
            </a:r>
            <a:endParaRPr lang="ko-KR" altLang="en-US" sz="1400" b="0" dirty="0">
              <a:solidFill>
                <a:srgbClr val="000000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l">
              <a:spcAft>
                <a:spcPts val="400"/>
              </a:spcAft>
            </a:pPr>
            <a:r>
              <a:rPr lang="en-US" altLang="ko-KR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• </a:t>
            </a:r>
            <a:r>
              <a:rPr 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Claude Opus 4.6: 1</a:t>
            </a:r>
            <a:r>
              <a:rPr lang="ko-KR" alt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시간 내 </a:t>
            </a:r>
            <a:r>
              <a:rPr lang="en-US" altLang="ko-KR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31</a:t>
            </a:r>
            <a:r>
              <a:rPr lang="ko-KR" alt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회 </a:t>
            </a:r>
            <a:r>
              <a:rPr 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exploration → fiber decomposition </a:t>
            </a:r>
            <a:r>
              <a:rPr lang="ko-KR" alt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발견</a:t>
            </a:r>
          </a:p>
          <a:p>
            <a:pPr algn="l">
              <a:spcAft>
                <a:spcPts val="400"/>
              </a:spcAft>
            </a:pPr>
            <a:r>
              <a:rPr lang="en-US" altLang="ko-KR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• </a:t>
            </a:r>
            <a:r>
              <a:rPr 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Python </a:t>
            </a:r>
            <a:r>
              <a:rPr lang="ko-KR" alt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프로그램 도출 → </a:t>
            </a:r>
            <a:r>
              <a:rPr 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Knuth </a:t>
            </a:r>
            <a:r>
              <a:rPr lang="ko-KR" altLang="en-US" sz="1400" b="0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손 검증 → 일반화 정리 증명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ko-KR" altLang="en-US" sz="1400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포인트</a:t>
            </a:r>
            <a:r>
              <a:rPr lang="en-US" altLang="ko-KR" sz="1400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: "</a:t>
            </a:r>
            <a:r>
              <a:rPr lang="en-US" sz="1400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ask and pray"</a:t>
            </a:r>
            <a:r>
              <a:rPr lang="ko-KR" altLang="en-US" sz="1400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 아닌 구조화된 </a:t>
            </a:r>
            <a:r>
              <a:rPr lang="en-US" sz="1400" b="1" dirty="0">
                <a:solidFill>
                  <a:srgbClr val="000000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agent workflow (plan + iterate).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9B4189-85F4-B0FE-C121-D4529070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AI+Science, Math</a:t>
            </a:r>
          </a:p>
        </p:txBody>
      </p:sp>
      <p:sp>
        <p:nvSpPr>
          <p:cNvPr id="953" name="Slide Number Placeholder">
            <a:extLst>
              <a:ext uri="{FF2B5EF4-FFF2-40B4-BE49-F238E27FC236}">
                <a16:creationId xmlns:a16="http://schemas.microsoft.com/office/drawing/2014/main" id="{DCCC5BB5-8463-C657-EA35-37A721FD93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27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32D0-820F-9A01-7B67-24748ACC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Live Demo: DFT 계산 수행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45893-0C57-008A-93A1-8B54145AE80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97DC1-3E3E-289F-A84A-F4688B3417D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86BC3-508A-F196-CE41-1F0730C04D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65002E9-CCF9-E394-ADF0-94DD343D31D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761008" y="1628456"/>
            <a:ext cx="4375552" cy="4321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DC5DE5-3223-55C4-0ABC-511F40419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19" y="2484465"/>
            <a:ext cx="5129445" cy="188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8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4C5E3-356F-7AE2-95AF-091B9FB50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아주 최근 동향 </a:t>
            </a:r>
            <a:r>
              <a:rPr lang="en-US" altLang="ko-KR" dirty="0"/>
              <a:t>(1): </a:t>
            </a:r>
            <a:r>
              <a:rPr lang="en-KR" dirty="0"/>
              <a:t>AI scientists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E6255-529E-F157-627B-292372639BE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0593F-9192-6419-F115-B9DE0B918B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3E67F-9057-37F6-7966-0DD5B023CD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C5D732-87FA-06A9-F630-6BF063CFA2F0}"/>
              </a:ext>
            </a:extLst>
          </p:cNvPr>
          <p:cNvGrpSpPr/>
          <p:nvPr/>
        </p:nvGrpSpPr>
        <p:grpSpPr>
          <a:xfrm>
            <a:off x="515380" y="1599829"/>
            <a:ext cx="11452030" cy="4658800"/>
            <a:chOff x="751182" y="2312637"/>
            <a:chExt cx="7360588" cy="299436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EB8EF32-1CDD-F3E4-3BBB-EC30A82B7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7755" y="2312637"/>
              <a:ext cx="3627331" cy="131477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CCD12A6-A17B-E96F-76C6-A25C27BC8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3740" y="2312637"/>
              <a:ext cx="3601457" cy="100949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10A0D52-C43F-E1A9-EA78-D59890A6C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1182" y="3627414"/>
              <a:ext cx="3654015" cy="1679584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06C100F-FA7F-D2EE-0E80-9D8937ACC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57755" y="3627414"/>
              <a:ext cx="3654015" cy="15089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9855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2B282-A7B3-9BCB-84E4-1B66BD29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0B0BC-AE3F-12E0-F363-ECC068EC3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아주 최근 동향 </a:t>
            </a:r>
            <a:r>
              <a:rPr lang="en-US" altLang="ko-KR" dirty="0"/>
              <a:t>(2): </a:t>
            </a:r>
            <a:r>
              <a:rPr lang="en-KR" dirty="0"/>
              <a:t>AI token cost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07B31-9971-C64F-333C-4CB2CC85D2D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7A791-B6C8-C86B-EE63-FEE6EDEF02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A98D5-FB01-DF1C-01D5-E5C6A368816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CD1038-AC0F-10F9-DB23-2DE050BB7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73805"/>
            <a:ext cx="7772400" cy="301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02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36506-C20D-C733-89CB-47732DA2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아주 최근 동향 </a:t>
            </a:r>
            <a:r>
              <a:rPr lang="en-US" altLang="ko-KR" dirty="0"/>
              <a:t>(3): </a:t>
            </a:r>
            <a:r>
              <a:rPr lang="en-KR" dirty="0"/>
              <a:t>AI psychosis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C65ED7D-7C7E-6005-E126-3FA7EB51213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870783" y="1628775"/>
            <a:ext cx="8450435" cy="43211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3B21F-E0C7-916A-4283-636C84F9549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F4D41-36D6-D3D7-AF9A-86B660907A0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79665-90AD-5E8D-BE63-547DAFB38D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61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4F8D-6328-DEE1-F26B-DE90A714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주요 참고자료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616DD-F597-C766-FF1A-AB7B973CA2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</a:t>
            </a:r>
            <a:r>
              <a:rPr lang="en-KR" dirty="0"/>
              <a:t>nthropic </a:t>
            </a:r>
            <a:br>
              <a:rPr lang="en-KR" dirty="0"/>
            </a:br>
            <a:r>
              <a:rPr lang="en-US" dirty="0">
                <a:hlinkClick r:id="rId2"/>
              </a:rPr>
              <a:t>https://www.anthropic.com/engineering</a:t>
            </a:r>
            <a:r>
              <a:rPr lang="en-KR" dirty="0"/>
              <a:t> </a:t>
            </a:r>
            <a:r>
              <a:rPr lang="en-US" dirty="0">
                <a:hlinkClick r:id="rId3"/>
              </a:rPr>
              <a:t>https://claude.com/blog</a:t>
            </a:r>
            <a:endParaRPr lang="en-KR" dirty="0"/>
          </a:p>
          <a:p>
            <a:r>
              <a:rPr lang="en-KR" dirty="0"/>
              <a:t>OpenAI</a:t>
            </a:r>
            <a:br>
              <a:rPr lang="en-KR" dirty="0"/>
            </a:br>
            <a:r>
              <a:rPr lang="en-US" dirty="0">
                <a:hlinkClick r:id="rId4"/>
              </a:rPr>
              <a:t>https://openai.com/news/</a:t>
            </a:r>
            <a:endParaRPr lang="en-US" dirty="0"/>
          </a:p>
          <a:p>
            <a:endParaRPr lang="en-KR" dirty="0"/>
          </a:p>
          <a:p>
            <a:r>
              <a:rPr lang="en-KR" dirty="0"/>
              <a:t>GeekNews </a:t>
            </a:r>
            <a:r>
              <a:rPr lang="en-US" dirty="0">
                <a:hlinkClick r:id="rId5"/>
              </a:rPr>
              <a:t>https://news.hada.io/</a:t>
            </a:r>
            <a:endParaRPr lang="en-US" dirty="0"/>
          </a:p>
          <a:p>
            <a:endParaRPr lang="en-KR" dirty="0"/>
          </a:p>
          <a:p>
            <a:r>
              <a:rPr lang="en-US" dirty="0"/>
              <a:t>P</a:t>
            </a:r>
            <a:r>
              <a:rPr lang="en-KR" dirty="0"/>
              <a:t>odcasts</a:t>
            </a:r>
            <a:br>
              <a:rPr lang="en-KR" dirty="0"/>
            </a:br>
            <a:r>
              <a:rPr lang="en-US" dirty="0">
                <a:solidFill>
                  <a:srgbClr val="F491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https://www.youtube.com/@chester_roh</a:t>
            </a:r>
            <a:br>
              <a:rPr lang="en-KR" dirty="0">
                <a:solidFill>
                  <a:srgbClr val="F49100"/>
                </a:solidFill>
              </a:rPr>
            </a:br>
            <a:r>
              <a:rPr lang="en-US" dirty="0">
                <a:hlinkClick r:id="rId7"/>
              </a:rPr>
              <a:t>https://www.youtube.com/c/DwarkeshPatel</a:t>
            </a:r>
            <a:endParaRPr lang="en-US" dirty="0"/>
          </a:p>
          <a:p>
            <a:endParaRPr lang="en-US" dirty="0">
              <a:solidFill>
                <a:srgbClr val="F49100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>
              <a:solidFill>
                <a:srgbClr val="F49100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/>
          </a:p>
          <a:p>
            <a:endParaRPr lang="en-K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48C89-3E77-0CAE-B34A-D7D3DA0F7C7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9B67-2388-7DD2-AE54-E3D1182374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83410-F314-DD3C-7AC6-BAA1087CE5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6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74543-FF65-59A9-4794-25DAE4DF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39CF1-B498-EB39-5238-5B245B69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5D91C-9881-C697-9638-20701A7F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27C215-7482-F7A9-AE10-A182205CFA74}"/>
              </a:ext>
            </a:extLst>
          </p:cNvPr>
          <p:cNvSpPr txBox="1"/>
          <p:nvPr/>
        </p:nvSpPr>
        <p:spPr>
          <a:xfrm>
            <a:off x="4528904" y="2998113"/>
            <a:ext cx="313419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50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018633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270292671]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Noto Sans KR" panose="020B0604020202020204"/>
        <a:ea typeface="Noto Sans KR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Noto Sans KR" panose="020B0604020202020204"/>
        <a:ea typeface="Noto Sans KR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" id="{12D84C57-2830-4345-BE75-264DA1028CB6}" vid="{98215C36-FA77-3044-99B2-22A3750B98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990DCDD-727C-A641-8EBB-2565CE81BC9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0578d00-561d-4346-8dee-748f73a408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2783</TotalTime>
  <Words>1159</Words>
  <Application>Microsoft Macintosh PowerPoint</Application>
  <PresentationFormat>Widescreen</PresentationFormat>
  <Paragraphs>214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Noto Sans KR</vt:lpstr>
      <vt:lpstr>Aptos</vt:lpstr>
      <vt:lpstr>Arial</vt:lpstr>
      <vt:lpstr>Wingdings</vt:lpstr>
      <vt:lpstr>Office Theme [1780270292671]</vt:lpstr>
      <vt:lpstr>AI Agent 활용 사례 소개</vt:lpstr>
      <vt:lpstr>목차</vt:lpstr>
      <vt:lpstr>LLM</vt:lpstr>
      <vt:lpstr>Augmented LLM</vt:lpstr>
      <vt:lpstr>AI Agent</vt:lpstr>
      <vt:lpstr>AI Coding Agents</vt:lpstr>
      <vt:lpstr>Live Demo: vibe coding</vt:lpstr>
      <vt:lpstr>AI Coding Agents for everyday work</vt:lpstr>
      <vt:lpstr>Live Demo: 내 구글 드라이브 파일 분석</vt:lpstr>
      <vt:lpstr>Working with Agents: 탐색-계획-실행-검증 </vt:lpstr>
      <vt:lpstr>서브에이전트(subagent) 활용</vt:lpstr>
      <vt:lpstr>Live Demo: 일반물리 강의 준비</vt:lpstr>
      <vt:lpstr>Agent Skills란?</vt:lpstr>
      <vt:lpstr>Skill 예시</vt:lpstr>
      <vt:lpstr>Computer Use Skills</vt:lpstr>
      <vt:lpstr>Live Demo: SAINT 자동화</vt:lpstr>
      <vt:lpstr>AI agent를 이용한 이론물리 연구 사례  </vt:lpstr>
      <vt:lpstr>AI+Science, Math</vt:lpstr>
      <vt:lpstr>Live Demo: DFT 계산 수행</vt:lpstr>
      <vt:lpstr>아주 최근 동향 (1): AI scientists</vt:lpstr>
      <vt:lpstr>아주 최근 동향 (2): AI token cost</vt:lpstr>
      <vt:lpstr>아주 최근 동향 (3): AI psychosis</vt:lpstr>
      <vt:lpstr>주요 참고자료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 Woo Choi</dc:creator>
  <cp:lastModifiedBy>최영우</cp:lastModifiedBy>
  <cp:revision>446</cp:revision>
  <cp:lastPrinted>2024-08-15T18:58:29Z</cp:lastPrinted>
  <dcterms:created xsi:type="dcterms:W3CDTF">2024-08-15T05:16:07Z</dcterms:created>
  <dcterms:modified xsi:type="dcterms:W3CDTF">2026-06-01T06:18:47Z</dcterms:modified>
</cp:coreProperties>
</file>